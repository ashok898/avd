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77" r:id="rId6"/>
    <p:sldId id="275" r:id="rId7"/>
    <p:sldId id="278" r:id="rId8"/>
    <p:sldId id="276" r:id="rId9"/>
    <p:sldId id="262" r:id="rId10"/>
    <p:sldId id="263" r:id="rId11"/>
    <p:sldId id="264" r:id="rId12"/>
    <p:sldId id="265" r:id="rId13"/>
    <p:sldId id="260" r:id="rId14"/>
    <p:sldId id="261" r:id="rId15"/>
    <p:sldId id="266" r:id="rId16"/>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8" d="100"/>
          <a:sy n="58" d="100"/>
        </p:scale>
        <p:origin x="988" y="1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2BA47-BC2B-2BC4-D8EC-5EEB00DD3C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57DDB2A-75EF-EF33-0DC1-566A946BD6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017A0C3-8FD0-BA38-BE8C-EDA778047455}"/>
              </a:ext>
            </a:extLst>
          </p:cNvPr>
          <p:cNvSpPr>
            <a:spLocks noGrp="1"/>
          </p:cNvSpPr>
          <p:nvPr>
            <p:ph type="dt" sz="half" idx="10"/>
          </p:nvPr>
        </p:nvSpPr>
        <p:spPr/>
        <p:txBody>
          <a:bodyPr/>
          <a:lstStyle/>
          <a:p>
            <a:fld id="{4D81EABC-35F2-4BB8-822D-5AD04D8D9FD8}" type="datetimeFigureOut">
              <a:rPr lang="en-US" smtClean="0"/>
              <a:t>8/23/2024</a:t>
            </a:fld>
            <a:endParaRPr lang="en-US"/>
          </a:p>
        </p:txBody>
      </p:sp>
      <p:sp>
        <p:nvSpPr>
          <p:cNvPr id="5" name="Footer Placeholder 4">
            <a:extLst>
              <a:ext uri="{FF2B5EF4-FFF2-40B4-BE49-F238E27FC236}">
                <a16:creationId xmlns:a16="http://schemas.microsoft.com/office/drawing/2014/main" id="{2EF35F04-F4A3-50FA-2E21-6D9FEBCE2C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49F7E3-3796-3F48-411F-CAF5D8065AA8}"/>
              </a:ext>
            </a:extLst>
          </p:cNvPr>
          <p:cNvSpPr>
            <a:spLocks noGrp="1"/>
          </p:cNvSpPr>
          <p:nvPr>
            <p:ph type="sldNum" sz="quarter" idx="12"/>
          </p:nvPr>
        </p:nvSpPr>
        <p:spPr/>
        <p:txBody>
          <a:bodyPr/>
          <a:lstStyle/>
          <a:p>
            <a:fld id="{974BD5EA-549C-4132-894C-CCEEFF6C572F}" type="slidenum">
              <a:rPr lang="en-US" smtClean="0"/>
              <a:t>‹#›</a:t>
            </a:fld>
            <a:endParaRPr lang="en-US"/>
          </a:p>
        </p:txBody>
      </p:sp>
    </p:spTree>
    <p:extLst>
      <p:ext uri="{BB962C8B-B14F-4D97-AF65-F5344CB8AC3E}">
        <p14:creationId xmlns:p14="http://schemas.microsoft.com/office/powerpoint/2010/main" val="3974165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0B512-1FF8-A2AA-66B7-6AD0E53305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B526CC-2084-A40C-BDCA-A42BFDF78B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C22F9D-3B28-B0F2-D91E-D4D51F0B4E71}"/>
              </a:ext>
            </a:extLst>
          </p:cNvPr>
          <p:cNvSpPr>
            <a:spLocks noGrp="1"/>
          </p:cNvSpPr>
          <p:nvPr>
            <p:ph type="dt" sz="half" idx="10"/>
          </p:nvPr>
        </p:nvSpPr>
        <p:spPr/>
        <p:txBody>
          <a:bodyPr/>
          <a:lstStyle/>
          <a:p>
            <a:fld id="{4D81EABC-35F2-4BB8-822D-5AD04D8D9FD8}" type="datetimeFigureOut">
              <a:rPr lang="en-US" smtClean="0"/>
              <a:t>8/23/2024</a:t>
            </a:fld>
            <a:endParaRPr lang="en-US"/>
          </a:p>
        </p:txBody>
      </p:sp>
      <p:sp>
        <p:nvSpPr>
          <p:cNvPr id="5" name="Footer Placeholder 4">
            <a:extLst>
              <a:ext uri="{FF2B5EF4-FFF2-40B4-BE49-F238E27FC236}">
                <a16:creationId xmlns:a16="http://schemas.microsoft.com/office/drawing/2014/main" id="{790E88D9-0FC7-65DD-2617-CDAF1D2366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0F0CD0-8352-8F8F-6BF3-5AE4A89335C9}"/>
              </a:ext>
            </a:extLst>
          </p:cNvPr>
          <p:cNvSpPr>
            <a:spLocks noGrp="1"/>
          </p:cNvSpPr>
          <p:nvPr>
            <p:ph type="sldNum" sz="quarter" idx="12"/>
          </p:nvPr>
        </p:nvSpPr>
        <p:spPr/>
        <p:txBody>
          <a:bodyPr/>
          <a:lstStyle/>
          <a:p>
            <a:fld id="{974BD5EA-549C-4132-894C-CCEEFF6C572F}" type="slidenum">
              <a:rPr lang="en-US" smtClean="0"/>
              <a:t>‹#›</a:t>
            </a:fld>
            <a:endParaRPr lang="en-US"/>
          </a:p>
        </p:txBody>
      </p:sp>
    </p:spTree>
    <p:extLst>
      <p:ext uri="{BB962C8B-B14F-4D97-AF65-F5344CB8AC3E}">
        <p14:creationId xmlns:p14="http://schemas.microsoft.com/office/powerpoint/2010/main" val="485260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FB4E8-1F0C-7E09-973E-2004DA605F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0A0FA2-9DEF-9E8B-8613-9D83C48E4B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290776-51A1-C4A6-2712-421FDDE55818}"/>
              </a:ext>
            </a:extLst>
          </p:cNvPr>
          <p:cNvSpPr>
            <a:spLocks noGrp="1"/>
          </p:cNvSpPr>
          <p:nvPr>
            <p:ph type="dt" sz="half" idx="10"/>
          </p:nvPr>
        </p:nvSpPr>
        <p:spPr/>
        <p:txBody>
          <a:bodyPr/>
          <a:lstStyle/>
          <a:p>
            <a:fld id="{4D81EABC-35F2-4BB8-822D-5AD04D8D9FD8}" type="datetimeFigureOut">
              <a:rPr lang="en-US" smtClean="0"/>
              <a:t>8/23/2024</a:t>
            </a:fld>
            <a:endParaRPr lang="en-US"/>
          </a:p>
        </p:txBody>
      </p:sp>
      <p:sp>
        <p:nvSpPr>
          <p:cNvPr id="5" name="Footer Placeholder 4">
            <a:extLst>
              <a:ext uri="{FF2B5EF4-FFF2-40B4-BE49-F238E27FC236}">
                <a16:creationId xmlns:a16="http://schemas.microsoft.com/office/drawing/2014/main" id="{B91E3A71-5C35-BB23-DAEB-00552786EB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0FAA44-B48F-5AA1-CD10-12819B396442}"/>
              </a:ext>
            </a:extLst>
          </p:cNvPr>
          <p:cNvSpPr>
            <a:spLocks noGrp="1"/>
          </p:cNvSpPr>
          <p:nvPr>
            <p:ph type="sldNum" sz="quarter" idx="12"/>
          </p:nvPr>
        </p:nvSpPr>
        <p:spPr/>
        <p:txBody>
          <a:bodyPr/>
          <a:lstStyle/>
          <a:p>
            <a:fld id="{974BD5EA-549C-4132-894C-CCEEFF6C572F}" type="slidenum">
              <a:rPr lang="en-US" smtClean="0"/>
              <a:t>‹#›</a:t>
            </a:fld>
            <a:endParaRPr lang="en-US"/>
          </a:p>
        </p:txBody>
      </p:sp>
    </p:spTree>
    <p:extLst>
      <p:ext uri="{BB962C8B-B14F-4D97-AF65-F5344CB8AC3E}">
        <p14:creationId xmlns:p14="http://schemas.microsoft.com/office/powerpoint/2010/main" val="2278741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8C6E9-8328-D989-D8FC-458D8BF678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D77941-3A9E-F36F-A0E5-56F92304D7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8E7C82-4F79-7F60-CEF4-5AC568B4CC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EE094F-4205-59EB-06EC-0AE4F1632F72}"/>
              </a:ext>
            </a:extLst>
          </p:cNvPr>
          <p:cNvSpPr>
            <a:spLocks noGrp="1"/>
          </p:cNvSpPr>
          <p:nvPr>
            <p:ph type="dt" sz="half" idx="10"/>
          </p:nvPr>
        </p:nvSpPr>
        <p:spPr/>
        <p:txBody>
          <a:bodyPr/>
          <a:lstStyle/>
          <a:p>
            <a:fld id="{4D81EABC-35F2-4BB8-822D-5AD04D8D9FD8}" type="datetimeFigureOut">
              <a:rPr lang="en-US" smtClean="0"/>
              <a:t>8/23/2024</a:t>
            </a:fld>
            <a:endParaRPr lang="en-US"/>
          </a:p>
        </p:txBody>
      </p:sp>
      <p:sp>
        <p:nvSpPr>
          <p:cNvPr id="6" name="Footer Placeholder 5">
            <a:extLst>
              <a:ext uri="{FF2B5EF4-FFF2-40B4-BE49-F238E27FC236}">
                <a16:creationId xmlns:a16="http://schemas.microsoft.com/office/drawing/2014/main" id="{14D6E117-6C1D-14D9-3D6C-D7C29BD00A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B92F6F-264B-485C-4DA6-0B150C082AAF}"/>
              </a:ext>
            </a:extLst>
          </p:cNvPr>
          <p:cNvSpPr>
            <a:spLocks noGrp="1"/>
          </p:cNvSpPr>
          <p:nvPr>
            <p:ph type="sldNum" sz="quarter" idx="12"/>
          </p:nvPr>
        </p:nvSpPr>
        <p:spPr/>
        <p:txBody>
          <a:bodyPr/>
          <a:lstStyle/>
          <a:p>
            <a:fld id="{974BD5EA-549C-4132-894C-CCEEFF6C572F}" type="slidenum">
              <a:rPr lang="en-US" smtClean="0"/>
              <a:t>‹#›</a:t>
            </a:fld>
            <a:endParaRPr lang="en-US"/>
          </a:p>
        </p:txBody>
      </p:sp>
    </p:spTree>
    <p:extLst>
      <p:ext uri="{BB962C8B-B14F-4D97-AF65-F5344CB8AC3E}">
        <p14:creationId xmlns:p14="http://schemas.microsoft.com/office/powerpoint/2010/main" val="991119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C0C29-4B84-DA70-825A-69B3D6DD32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978F09-09D6-085D-5295-A996713ACE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8D90F6-2726-F843-BD58-74B5E7F0B8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9EF49A-4EB7-1897-87D4-585108FDBA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0254CF-B246-FD71-6B76-153E7D29EF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46F3DE-8374-8E21-E610-271F28DB0665}"/>
              </a:ext>
            </a:extLst>
          </p:cNvPr>
          <p:cNvSpPr>
            <a:spLocks noGrp="1"/>
          </p:cNvSpPr>
          <p:nvPr>
            <p:ph type="dt" sz="half" idx="10"/>
          </p:nvPr>
        </p:nvSpPr>
        <p:spPr/>
        <p:txBody>
          <a:bodyPr/>
          <a:lstStyle/>
          <a:p>
            <a:fld id="{4D81EABC-35F2-4BB8-822D-5AD04D8D9FD8}" type="datetimeFigureOut">
              <a:rPr lang="en-US" smtClean="0"/>
              <a:t>8/23/2024</a:t>
            </a:fld>
            <a:endParaRPr lang="en-US"/>
          </a:p>
        </p:txBody>
      </p:sp>
      <p:sp>
        <p:nvSpPr>
          <p:cNvPr id="8" name="Footer Placeholder 7">
            <a:extLst>
              <a:ext uri="{FF2B5EF4-FFF2-40B4-BE49-F238E27FC236}">
                <a16:creationId xmlns:a16="http://schemas.microsoft.com/office/drawing/2014/main" id="{D3E4058E-D665-F642-9187-25B27266B1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1C1DCD-6D78-19B7-1272-F88EC9A4A3A0}"/>
              </a:ext>
            </a:extLst>
          </p:cNvPr>
          <p:cNvSpPr>
            <a:spLocks noGrp="1"/>
          </p:cNvSpPr>
          <p:nvPr>
            <p:ph type="sldNum" sz="quarter" idx="12"/>
          </p:nvPr>
        </p:nvSpPr>
        <p:spPr/>
        <p:txBody>
          <a:bodyPr/>
          <a:lstStyle/>
          <a:p>
            <a:fld id="{974BD5EA-549C-4132-894C-CCEEFF6C572F}" type="slidenum">
              <a:rPr lang="en-US" smtClean="0"/>
              <a:t>‹#›</a:t>
            </a:fld>
            <a:endParaRPr lang="en-US"/>
          </a:p>
        </p:txBody>
      </p:sp>
    </p:spTree>
    <p:extLst>
      <p:ext uri="{BB962C8B-B14F-4D97-AF65-F5344CB8AC3E}">
        <p14:creationId xmlns:p14="http://schemas.microsoft.com/office/powerpoint/2010/main" val="4147709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F9ADE-E8C9-2709-A6F1-5312876652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7A11A5A-FAAD-D487-C57B-24396171DA75}"/>
              </a:ext>
            </a:extLst>
          </p:cNvPr>
          <p:cNvSpPr>
            <a:spLocks noGrp="1"/>
          </p:cNvSpPr>
          <p:nvPr>
            <p:ph type="dt" sz="half" idx="10"/>
          </p:nvPr>
        </p:nvSpPr>
        <p:spPr/>
        <p:txBody>
          <a:bodyPr/>
          <a:lstStyle/>
          <a:p>
            <a:fld id="{4D81EABC-35F2-4BB8-822D-5AD04D8D9FD8}" type="datetimeFigureOut">
              <a:rPr lang="en-US" smtClean="0"/>
              <a:t>8/23/2024</a:t>
            </a:fld>
            <a:endParaRPr lang="en-US"/>
          </a:p>
        </p:txBody>
      </p:sp>
      <p:sp>
        <p:nvSpPr>
          <p:cNvPr id="4" name="Footer Placeholder 3">
            <a:extLst>
              <a:ext uri="{FF2B5EF4-FFF2-40B4-BE49-F238E27FC236}">
                <a16:creationId xmlns:a16="http://schemas.microsoft.com/office/drawing/2014/main" id="{E619700E-5215-172A-E28C-C997679C28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629C1B-D593-8693-6A9F-81F4433A886E}"/>
              </a:ext>
            </a:extLst>
          </p:cNvPr>
          <p:cNvSpPr>
            <a:spLocks noGrp="1"/>
          </p:cNvSpPr>
          <p:nvPr>
            <p:ph type="sldNum" sz="quarter" idx="12"/>
          </p:nvPr>
        </p:nvSpPr>
        <p:spPr/>
        <p:txBody>
          <a:bodyPr/>
          <a:lstStyle/>
          <a:p>
            <a:fld id="{974BD5EA-549C-4132-894C-CCEEFF6C572F}" type="slidenum">
              <a:rPr lang="en-US" smtClean="0"/>
              <a:t>‹#›</a:t>
            </a:fld>
            <a:endParaRPr lang="en-US"/>
          </a:p>
        </p:txBody>
      </p:sp>
    </p:spTree>
    <p:extLst>
      <p:ext uri="{BB962C8B-B14F-4D97-AF65-F5344CB8AC3E}">
        <p14:creationId xmlns:p14="http://schemas.microsoft.com/office/powerpoint/2010/main" val="3065202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7D7043-3869-2269-D0DE-D41266476EE9}"/>
              </a:ext>
            </a:extLst>
          </p:cNvPr>
          <p:cNvSpPr>
            <a:spLocks noGrp="1"/>
          </p:cNvSpPr>
          <p:nvPr>
            <p:ph type="dt" sz="half" idx="10"/>
          </p:nvPr>
        </p:nvSpPr>
        <p:spPr/>
        <p:txBody>
          <a:bodyPr/>
          <a:lstStyle/>
          <a:p>
            <a:fld id="{4D81EABC-35F2-4BB8-822D-5AD04D8D9FD8}" type="datetimeFigureOut">
              <a:rPr lang="en-US" smtClean="0"/>
              <a:t>8/23/2024</a:t>
            </a:fld>
            <a:endParaRPr lang="en-US"/>
          </a:p>
        </p:txBody>
      </p:sp>
      <p:sp>
        <p:nvSpPr>
          <p:cNvPr id="3" name="Footer Placeholder 2">
            <a:extLst>
              <a:ext uri="{FF2B5EF4-FFF2-40B4-BE49-F238E27FC236}">
                <a16:creationId xmlns:a16="http://schemas.microsoft.com/office/drawing/2014/main" id="{4F2D9AEE-131D-B57F-EC1F-10D07FF025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7B9E51-BFF9-379A-C76E-E1EBD09D967E}"/>
              </a:ext>
            </a:extLst>
          </p:cNvPr>
          <p:cNvSpPr>
            <a:spLocks noGrp="1"/>
          </p:cNvSpPr>
          <p:nvPr>
            <p:ph type="sldNum" sz="quarter" idx="12"/>
          </p:nvPr>
        </p:nvSpPr>
        <p:spPr/>
        <p:txBody>
          <a:bodyPr/>
          <a:lstStyle/>
          <a:p>
            <a:fld id="{974BD5EA-549C-4132-894C-CCEEFF6C572F}" type="slidenum">
              <a:rPr lang="en-US" smtClean="0"/>
              <a:t>‹#›</a:t>
            </a:fld>
            <a:endParaRPr lang="en-US"/>
          </a:p>
        </p:txBody>
      </p:sp>
    </p:spTree>
    <p:extLst>
      <p:ext uri="{BB962C8B-B14F-4D97-AF65-F5344CB8AC3E}">
        <p14:creationId xmlns:p14="http://schemas.microsoft.com/office/powerpoint/2010/main" val="3844710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02AAF-D2A1-F976-AF1E-658B010F21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A903A8-C5D4-5674-B351-4F796532F2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1F3F24-5BB0-F2A6-BB97-6091D7CBD5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43AF45-04A3-2E55-3732-3CEF72ADE308}"/>
              </a:ext>
            </a:extLst>
          </p:cNvPr>
          <p:cNvSpPr>
            <a:spLocks noGrp="1"/>
          </p:cNvSpPr>
          <p:nvPr>
            <p:ph type="dt" sz="half" idx="10"/>
          </p:nvPr>
        </p:nvSpPr>
        <p:spPr/>
        <p:txBody>
          <a:bodyPr/>
          <a:lstStyle/>
          <a:p>
            <a:fld id="{4D81EABC-35F2-4BB8-822D-5AD04D8D9FD8}" type="datetimeFigureOut">
              <a:rPr lang="en-US" smtClean="0"/>
              <a:t>8/23/2024</a:t>
            </a:fld>
            <a:endParaRPr lang="en-US"/>
          </a:p>
        </p:txBody>
      </p:sp>
      <p:sp>
        <p:nvSpPr>
          <p:cNvPr id="6" name="Footer Placeholder 5">
            <a:extLst>
              <a:ext uri="{FF2B5EF4-FFF2-40B4-BE49-F238E27FC236}">
                <a16:creationId xmlns:a16="http://schemas.microsoft.com/office/drawing/2014/main" id="{99CC52AF-5EDB-F439-EEF4-569863F3B7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0FA351-1B7D-39BB-1DED-9B5FA47D32AA}"/>
              </a:ext>
            </a:extLst>
          </p:cNvPr>
          <p:cNvSpPr>
            <a:spLocks noGrp="1"/>
          </p:cNvSpPr>
          <p:nvPr>
            <p:ph type="sldNum" sz="quarter" idx="12"/>
          </p:nvPr>
        </p:nvSpPr>
        <p:spPr/>
        <p:txBody>
          <a:bodyPr/>
          <a:lstStyle/>
          <a:p>
            <a:fld id="{974BD5EA-549C-4132-894C-CCEEFF6C572F}" type="slidenum">
              <a:rPr lang="en-US" smtClean="0"/>
              <a:t>‹#›</a:t>
            </a:fld>
            <a:endParaRPr lang="en-US"/>
          </a:p>
        </p:txBody>
      </p:sp>
    </p:spTree>
    <p:extLst>
      <p:ext uri="{BB962C8B-B14F-4D97-AF65-F5344CB8AC3E}">
        <p14:creationId xmlns:p14="http://schemas.microsoft.com/office/powerpoint/2010/main" val="2173941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52B20-BAD9-B1FC-548A-F90265C083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FE86DD-9224-5FF7-D9C4-4E9BBC062C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E866B4-7C91-97F7-CAFD-DC95439401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5C81D3-3A12-3322-01FA-CC98E1059524}"/>
              </a:ext>
            </a:extLst>
          </p:cNvPr>
          <p:cNvSpPr>
            <a:spLocks noGrp="1"/>
          </p:cNvSpPr>
          <p:nvPr>
            <p:ph type="dt" sz="half" idx="10"/>
          </p:nvPr>
        </p:nvSpPr>
        <p:spPr/>
        <p:txBody>
          <a:bodyPr/>
          <a:lstStyle/>
          <a:p>
            <a:fld id="{4D81EABC-35F2-4BB8-822D-5AD04D8D9FD8}" type="datetimeFigureOut">
              <a:rPr lang="en-US" smtClean="0"/>
              <a:t>8/23/2024</a:t>
            </a:fld>
            <a:endParaRPr lang="en-US"/>
          </a:p>
        </p:txBody>
      </p:sp>
      <p:sp>
        <p:nvSpPr>
          <p:cNvPr id="6" name="Footer Placeholder 5">
            <a:extLst>
              <a:ext uri="{FF2B5EF4-FFF2-40B4-BE49-F238E27FC236}">
                <a16:creationId xmlns:a16="http://schemas.microsoft.com/office/drawing/2014/main" id="{0EDC5E9C-37F1-2D91-06F5-C6C1685051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AAFC19-CE9E-11DD-0E1C-E8A0B5295A94}"/>
              </a:ext>
            </a:extLst>
          </p:cNvPr>
          <p:cNvSpPr>
            <a:spLocks noGrp="1"/>
          </p:cNvSpPr>
          <p:nvPr>
            <p:ph type="sldNum" sz="quarter" idx="12"/>
          </p:nvPr>
        </p:nvSpPr>
        <p:spPr/>
        <p:txBody>
          <a:bodyPr/>
          <a:lstStyle/>
          <a:p>
            <a:fld id="{974BD5EA-549C-4132-894C-CCEEFF6C572F}" type="slidenum">
              <a:rPr lang="en-US" smtClean="0"/>
              <a:t>‹#›</a:t>
            </a:fld>
            <a:endParaRPr lang="en-US"/>
          </a:p>
        </p:txBody>
      </p:sp>
    </p:spTree>
    <p:extLst>
      <p:ext uri="{BB962C8B-B14F-4D97-AF65-F5344CB8AC3E}">
        <p14:creationId xmlns:p14="http://schemas.microsoft.com/office/powerpoint/2010/main" val="647849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165A6-700F-B60A-AD84-CC308752309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8060AA5-DAB8-AACA-CC57-9F1522E073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E0BE2F-BBD1-B530-42AF-359C278033D3}"/>
              </a:ext>
            </a:extLst>
          </p:cNvPr>
          <p:cNvSpPr>
            <a:spLocks noGrp="1"/>
          </p:cNvSpPr>
          <p:nvPr>
            <p:ph type="dt" sz="half" idx="10"/>
          </p:nvPr>
        </p:nvSpPr>
        <p:spPr/>
        <p:txBody>
          <a:bodyPr/>
          <a:lstStyle/>
          <a:p>
            <a:fld id="{4D81EABC-35F2-4BB8-822D-5AD04D8D9FD8}" type="datetimeFigureOut">
              <a:rPr lang="en-US" smtClean="0"/>
              <a:t>8/23/2024</a:t>
            </a:fld>
            <a:endParaRPr lang="en-US"/>
          </a:p>
        </p:txBody>
      </p:sp>
      <p:sp>
        <p:nvSpPr>
          <p:cNvPr id="5" name="Footer Placeholder 4">
            <a:extLst>
              <a:ext uri="{FF2B5EF4-FFF2-40B4-BE49-F238E27FC236}">
                <a16:creationId xmlns:a16="http://schemas.microsoft.com/office/drawing/2014/main" id="{B7716A52-C931-2839-764D-EECBC1FD90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761AED-1C2C-DAC1-8382-52EFC91FA58E}"/>
              </a:ext>
            </a:extLst>
          </p:cNvPr>
          <p:cNvSpPr>
            <a:spLocks noGrp="1"/>
          </p:cNvSpPr>
          <p:nvPr>
            <p:ph type="sldNum" sz="quarter" idx="12"/>
          </p:nvPr>
        </p:nvSpPr>
        <p:spPr/>
        <p:txBody>
          <a:bodyPr/>
          <a:lstStyle/>
          <a:p>
            <a:fld id="{974BD5EA-549C-4132-894C-CCEEFF6C572F}" type="slidenum">
              <a:rPr lang="en-US" smtClean="0"/>
              <a:t>‹#›</a:t>
            </a:fld>
            <a:endParaRPr lang="en-US"/>
          </a:p>
        </p:txBody>
      </p:sp>
    </p:spTree>
    <p:extLst>
      <p:ext uri="{BB962C8B-B14F-4D97-AF65-F5344CB8AC3E}">
        <p14:creationId xmlns:p14="http://schemas.microsoft.com/office/powerpoint/2010/main" val="3727018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3940D9-118E-3A50-7392-21372531DC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665926-F78B-C460-0ED2-EEE0C2EAA1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3CA117-3BDA-6453-CE5E-ECA4776EA749}"/>
              </a:ext>
            </a:extLst>
          </p:cNvPr>
          <p:cNvSpPr>
            <a:spLocks noGrp="1"/>
          </p:cNvSpPr>
          <p:nvPr>
            <p:ph type="dt" sz="half" idx="10"/>
          </p:nvPr>
        </p:nvSpPr>
        <p:spPr/>
        <p:txBody>
          <a:bodyPr/>
          <a:lstStyle/>
          <a:p>
            <a:fld id="{4D81EABC-35F2-4BB8-822D-5AD04D8D9FD8}" type="datetimeFigureOut">
              <a:rPr lang="en-US" smtClean="0"/>
              <a:t>8/23/2024</a:t>
            </a:fld>
            <a:endParaRPr lang="en-US"/>
          </a:p>
        </p:txBody>
      </p:sp>
      <p:sp>
        <p:nvSpPr>
          <p:cNvPr id="5" name="Footer Placeholder 4">
            <a:extLst>
              <a:ext uri="{FF2B5EF4-FFF2-40B4-BE49-F238E27FC236}">
                <a16:creationId xmlns:a16="http://schemas.microsoft.com/office/drawing/2014/main" id="{35064AAE-DA85-408B-A7D5-5F9D2F2BBE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D00D2E-F224-5C6F-B819-C517201D93F8}"/>
              </a:ext>
            </a:extLst>
          </p:cNvPr>
          <p:cNvSpPr>
            <a:spLocks noGrp="1"/>
          </p:cNvSpPr>
          <p:nvPr>
            <p:ph type="sldNum" sz="quarter" idx="12"/>
          </p:nvPr>
        </p:nvSpPr>
        <p:spPr/>
        <p:txBody>
          <a:bodyPr/>
          <a:lstStyle/>
          <a:p>
            <a:fld id="{974BD5EA-549C-4132-894C-CCEEFF6C572F}" type="slidenum">
              <a:rPr lang="en-US" smtClean="0"/>
              <a:t>‹#›</a:t>
            </a:fld>
            <a:endParaRPr lang="en-US"/>
          </a:p>
        </p:txBody>
      </p:sp>
    </p:spTree>
    <p:extLst>
      <p:ext uri="{BB962C8B-B14F-4D97-AF65-F5344CB8AC3E}">
        <p14:creationId xmlns:p14="http://schemas.microsoft.com/office/powerpoint/2010/main" val="1728911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4A35F2-3699-D7E6-810A-F0F12C2D71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768C0B-D642-E9BF-3E02-DD032D47EC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79BFA3-55F6-1F2C-64BF-E38C7408C0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D81EABC-35F2-4BB8-822D-5AD04D8D9FD8}" type="datetimeFigureOut">
              <a:rPr lang="en-US" smtClean="0"/>
              <a:t>8/23/2024</a:t>
            </a:fld>
            <a:endParaRPr lang="en-US"/>
          </a:p>
        </p:txBody>
      </p:sp>
      <p:sp>
        <p:nvSpPr>
          <p:cNvPr id="5" name="Footer Placeholder 4">
            <a:extLst>
              <a:ext uri="{FF2B5EF4-FFF2-40B4-BE49-F238E27FC236}">
                <a16:creationId xmlns:a16="http://schemas.microsoft.com/office/drawing/2014/main" id="{0652B720-7324-B8C1-0626-EB48F90A60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ED531FA-6655-CDD2-9127-2738F708CB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4BD5EA-549C-4132-894C-CCEEFF6C572F}" type="slidenum">
              <a:rPr lang="en-US" smtClean="0"/>
              <a:t>‹#›</a:t>
            </a:fld>
            <a:endParaRPr lang="en-US"/>
          </a:p>
        </p:txBody>
      </p:sp>
    </p:spTree>
    <p:extLst>
      <p:ext uri="{BB962C8B-B14F-4D97-AF65-F5344CB8AC3E}">
        <p14:creationId xmlns:p14="http://schemas.microsoft.com/office/powerpoint/2010/main" val="13883315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learn.microsoft.com/en-us/azure/virtual-desktop/fslogix-profile-container-configure-azure-files-active-directory?tabs=adds" TargetMode="External"/><Relationship Id="rId3" Type="http://schemas.openxmlformats.org/officeDocument/2006/relationships/hyperlink" Target="https://learn.microsoft.com/en-us/fslogix/concepts-container-types" TargetMode="External"/><Relationship Id="rId7" Type="http://schemas.openxmlformats.org/officeDocument/2006/relationships/hyperlink" Target="https://learn.microsoft.com/en-us/fslogix/overview-prerequisites" TargetMode="External"/><Relationship Id="rId2" Type="http://schemas.openxmlformats.org/officeDocument/2006/relationships/hyperlink" Target="https://learn.microsoft.com/en-us/fslogix/overview-what-is-fslogix" TargetMode="External"/><Relationship Id="rId1" Type="http://schemas.openxmlformats.org/officeDocument/2006/relationships/slideLayout" Target="../slideLayouts/slideLayout1.xml"/><Relationship Id="rId6" Type="http://schemas.openxmlformats.org/officeDocument/2006/relationships/hyperlink" Target="https://learn.microsoft.com/en-us/fslogix/how-to-configure-storage-permissions" TargetMode="External"/><Relationship Id="rId5" Type="http://schemas.openxmlformats.org/officeDocument/2006/relationships/hyperlink" Target="https://learn.microsoft.com/en-us/fslogix/reference-configuration-settings?tabs=odfc#tabpanel_1_odfc" TargetMode="External"/><Relationship Id="rId4" Type="http://schemas.openxmlformats.org/officeDocument/2006/relationships/hyperlink" Target="https://learn.microsoft.com/en-us/fslogix/concepts-fslogix-terminology"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learn.microsoft.com/en-us/previous-versions/windows/desktop/legacy/bb776897(v=vs.85)" TargetMode="External"/><Relationship Id="rId2" Type="http://schemas.openxmlformats.org/officeDocument/2006/relationships/hyperlink" Target="https://learn.microsoft.com/en-us/previous-versions/windows/desktop/legacy/bb776894(v=vs.85)" TargetMode="External"/><Relationship Id="rId1" Type="http://schemas.openxmlformats.org/officeDocument/2006/relationships/slideLayout" Target="../slideLayouts/slideLayout1.xml"/><Relationship Id="rId5" Type="http://schemas.openxmlformats.org/officeDocument/2006/relationships/hyperlink" Target="https://learn.microsoft.com/en-us/previous-versions/windows/desktop/legacy/bb776898(v=vs.85)" TargetMode="External"/><Relationship Id="rId4" Type="http://schemas.openxmlformats.org/officeDocument/2006/relationships/hyperlink" Target="https://learn.microsoft.com/en-us/previous-versions/windows/desktop/legacy/bb776895(v=vs.85)"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learn.microsoft.com/en-us/fslogix/concepts-fslogix-cloud-cache" TargetMode="External"/><Relationship Id="rId2" Type="http://schemas.openxmlformats.org/officeDocument/2006/relationships/hyperlink" Target="https://learn.microsoft.com/en-us/fslogix/concepts-fslogix-terminology" TargetMode="External"/><Relationship Id="rId1" Type="http://schemas.openxmlformats.org/officeDocument/2006/relationships/slideLayout" Target="../slideLayouts/slideLayout1.xml"/><Relationship Id="rId6" Type="http://schemas.openxmlformats.org/officeDocument/2006/relationships/hyperlink" Target="https://learn.microsoft.com/en-us/fslogix/tutorial-application-rule-sets" TargetMode="External"/><Relationship Id="rId5" Type="http://schemas.openxmlformats.org/officeDocument/2006/relationships/hyperlink" Target="https://learn.microsoft.com/en-us/fslogix/concepts-container-recovery-business-continuity" TargetMode="External"/><Relationship Id="rId4" Type="http://schemas.openxmlformats.org/officeDocument/2006/relationships/hyperlink" Target="https://learn.microsoft.com/en-us/fslogix/concepts-container-high-availability"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learn.microsoft.com/en-us/fslogix/concepts-fslogix-terminology" TargetMode="External"/><Relationship Id="rId2" Type="http://schemas.openxmlformats.org/officeDocument/2006/relationships/hyperlink" Target="https://learn.microsoft.com/en-us/fslogix/concepts-container-types"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learn.microsoft.com/en-us/azure/virtual-desktop/create-fslogix-profile-container" TargetMode="External"/><Relationship Id="rId2" Type="http://schemas.openxmlformats.org/officeDocument/2006/relationships/hyperlink" Target="https://learn.microsoft.com/en-us/azure/virtual-desktop/create-profile-container-azure-ad"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learn.microsoft.com/en-us/fslogix/concepts-fslogix-cloud-cache#remote-storage-providers-hydrate-flush-clone" TargetMode="External"/><Relationship Id="rId2" Type="http://schemas.openxmlformats.org/officeDocument/2006/relationships/hyperlink" Target="https://learn.microsoft.com/en-us/fslogix/concepts-fslogix-cloud-cache" TargetMode="External"/><Relationship Id="rId1" Type="http://schemas.openxmlformats.org/officeDocument/2006/relationships/slideLayout" Target="../slideLayouts/slideLayout1.xml"/><Relationship Id="rId4" Type="http://schemas.openxmlformats.org/officeDocument/2006/relationships/hyperlink" Target="https://learn.microsoft.com/en-us/fslogix/concepts-fslogix-cloud-cache#local-cache"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en-us/fslogix/how-to-configure-storage-permissions" TargetMode="External"/><Relationship Id="rId2" Type="http://schemas.openxmlformats.org/officeDocument/2006/relationships/hyperlink" Target="https://learn.microsoft.com/en-us/azure/virtual-desktop/tutorial-create-connect-personal-desktop" TargetMode="External"/><Relationship Id="rId1" Type="http://schemas.openxmlformats.org/officeDocument/2006/relationships/slideLayout" Target="../slideLayouts/slideLayout1.xml"/><Relationship Id="rId6" Type="http://schemas.openxmlformats.org/officeDocument/2006/relationships/hyperlink" Target="https://learn.microsoft.com/en-us/fslogix/concepts-configuration-options" TargetMode="External"/><Relationship Id="rId5" Type="http://schemas.openxmlformats.org/officeDocument/2006/relationships/hyperlink" Target="https://learn.microsoft.com/en-us/fslogix/how-to-install-fslogix" TargetMode="External"/><Relationship Id="rId4" Type="http://schemas.openxmlformats.org/officeDocument/2006/relationships/hyperlink" Target="https://learn.microsoft.com/en-us/fslogix/how-to-install-fslogix#download-fslogix"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learn.microsoft.com/en-us/fslogix/how-to-install-fslogix#verify-product-installation-and-version"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https://learn.microsoft.com/en-us/windows-hardware/drivers/storage/msft-partition-getsupportedsizes#remarks"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hyperlink" Target="https://learn.microsoft.com/en-us/windows-hardware/drivers/storage/msft-partition-getsupportedsizes"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0C372A7-FAF8-A7BA-3C0A-62033CDECAAE}"/>
              </a:ext>
            </a:extLst>
          </p:cNvPr>
          <p:cNvSpPr txBox="1"/>
          <p:nvPr/>
        </p:nvSpPr>
        <p:spPr>
          <a:xfrm>
            <a:off x="892528" y="232666"/>
            <a:ext cx="10655546" cy="4339650"/>
          </a:xfrm>
          <a:prstGeom prst="rect">
            <a:avLst/>
          </a:prstGeom>
          <a:noFill/>
        </p:spPr>
        <p:txBody>
          <a:bodyPr wrap="none" rtlCol="0">
            <a:spAutoFit/>
          </a:bodyPr>
          <a:lstStyle/>
          <a:p>
            <a:r>
              <a:rPr lang="en-US" sz="8800" dirty="0"/>
              <a:t>Fs-Logix</a:t>
            </a:r>
          </a:p>
          <a:p>
            <a:r>
              <a:rPr lang="en-US" sz="1400" b="1" dirty="0"/>
              <a:t>Imp </a:t>
            </a:r>
            <a:r>
              <a:rPr lang="en-US" sz="1400" b="1" dirty="0" err="1"/>
              <a:t>Urls</a:t>
            </a:r>
            <a:endParaRPr lang="en-US" sz="1400" b="1" dirty="0"/>
          </a:p>
          <a:p>
            <a:r>
              <a:rPr lang="en-US" sz="1400" dirty="0">
                <a:hlinkClick r:id="rId2"/>
              </a:rPr>
              <a:t>What is </a:t>
            </a:r>
            <a:r>
              <a:rPr lang="en-US" sz="1400" dirty="0" err="1">
                <a:hlinkClick r:id="rId2"/>
              </a:rPr>
              <a:t>FSLogix</a:t>
            </a:r>
            <a:r>
              <a:rPr lang="en-US" sz="1400" dirty="0">
                <a:hlinkClick r:id="rId2"/>
              </a:rPr>
              <a:t> - </a:t>
            </a:r>
            <a:r>
              <a:rPr lang="en-US" sz="1400" dirty="0" err="1">
                <a:hlinkClick r:id="rId2"/>
              </a:rPr>
              <a:t>FSLogix</a:t>
            </a:r>
            <a:r>
              <a:rPr lang="en-US" sz="1400" dirty="0">
                <a:hlinkClick r:id="rId2"/>
              </a:rPr>
              <a:t> | Microsoft Learn</a:t>
            </a:r>
            <a:endParaRPr lang="en-US" sz="1400" dirty="0"/>
          </a:p>
          <a:p>
            <a:r>
              <a:rPr lang="en-US" sz="1400" dirty="0">
                <a:hlinkClick r:id="rId3"/>
              </a:rPr>
              <a:t>Types of Containers - </a:t>
            </a:r>
            <a:r>
              <a:rPr lang="en-US" sz="1400" dirty="0" err="1">
                <a:hlinkClick r:id="rId3"/>
              </a:rPr>
              <a:t>FSLogix</a:t>
            </a:r>
            <a:r>
              <a:rPr lang="en-US" sz="1400" dirty="0">
                <a:hlinkClick r:id="rId3"/>
              </a:rPr>
              <a:t> | Microsoft Learn</a:t>
            </a:r>
            <a:endParaRPr lang="en-US" sz="1400" dirty="0"/>
          </a:p>
          <a:p>
            <a:r>
              <a:rPr lang="en-US" sz="1400" dirty="0" err="1">
                <a:hlinkClick r:id="rId4"/>
              </a:rPr>
              <a:t>FSLogix</a:t>
            </a:r>
            <a:r>
              <a:rPr lang="en-US" sz="1400" dirty="0">
                <a:hlinkClick r:id="rId4"/>
              </a:rPr>
              <a:t> Terminology - </a:t>
            </a:r>
            <a:r>
              <a:rPr lang="en-US" sz="1400" dirty="0" err="1">
                <a:hlinkClick r:id="rId4"/>
              </a:rPr>
              <a:t>FSLogix</a:t>
            </a:r>
            <a:r>
              <a:rPr lang="en-US" sz="1400" dirty="0">
                <a:hlinkClick r:id="rId4"/>
              </a:rPr>
              <a:t> | Microsoft Learn</a:t>
            </a:r>
            <a:endParaRPr lang="en-US" sz="1400" dirty="0"/>
          </a:p>
          <a:p>
            <a:r>
              <a:rPr lang="en-US" sz="1400" dirty="0">
                <a:hlinkClick r:id="rId5"/>
              </a:rPr>
              <a:t>Configuration Settings - </a:t>
            </a:r>
            <a:r>
              <a:rPr lang="en-US" sz="1400" dirty="0" err="1">
                <a:hlinkClick r:id="rId5"/>
              </a:rPr>
              <a:t>FSLogix</a:t>
            </a:r>
            <a:r>
              <a:rPr lang="en-US" sz="1400" dirty="0">
                <a:hlinkClick r:id="rId5"/>
              </a:rPr>
              <a:t> | Microsoft Learn</a:t>
            </a:r>
            <a:endParaRPr lang="en-US" sz="1400" dirty="0"/>
          </a:p>
          <a:p>
            <a:r>
              <a:rPr lang="en-US" sz="1400" dirty="0">
                <a:hlinkClick r:id="rId6"/>
              </a:rPr>
              <a:t>Configure SMB Storage Permissions - </a:t>
            </a:r>
            <a:r>
              <a:rPr lang="en-US" sz="1400" dirty="0" err="1">
                <a:hlinkClick r:id="rId6"/>
              </a:rPr>
              <a:t>FSLogix</a:t>
            </a:r>
            <a:r>
              <a:rPr lang="en-US" sz="1400" dirty="0">
                <a:hlinkClick r:id="rId6"/>
              </a:rPr>
              <a:t> | Microsoft Learn</a:t>
            </a:r>
            <a:endParaRPr lang="en-US" sz="1400" dirty="0"/>
          </a:p>
          <a:p>
            <a:r>
              <a:rPr lang="en-US" sz="1400" dirty="0">
                <a:hlinkClick r:id="rId7"/>
              </a:rPr>
              <a:t>Prerequisites for </a:t>
            </a:r>
            <a:r>
              <a:rPr lang="en-US" sz="1400" dirty="0" err="1">
                <a:hlinkClick r:id="rId7"/>
              </a:rPr>
              <a:t>FSLogix</a:t>
            </a:r>
            <a:r>
              <a:rPr lang="en-US" sz="1400" dirty="0">
                <a:hlinkClick r:id="rId7"/>
              </a:rPr>
              <a:t> - </a:t>
            </a:r>
            <a:r>
              <a:rPr lang="en-US" sz="1400" dirty="0" err="1">
                <a:hlinkClick r:id="rId7"/>
              </a:rPr>
              <a:t>FSLogix</a:t>
            </a:r>
            <a:r>
              <a:rPr lang="en-US" sz="1400" dirty="0">
                <a:hlinkClick r:id="rId7"/>
              </a:rPr>
              <a:t> | Microsoft Learn</a:t>
            </a:r>
            <a:endParaRPr lang="en-US" sz="1400" dirty="0"/>
          </a:p>
          <a:p>
            <a:r>
              <a:rPr lang="en-US" sz="1400" dirty="0">
                <a:hlinkClick r:id="rId8"/>
              </a:rPr>
              <a:t>Set up </a:t>
            </a:r>
            <a:r>
              <a:rPr lang="en-US" sz="1400" dirty="0" err="1">
                <a:hlinkClick r:id="rId8"/>
              </a:rPr>
              <a:t>FSLogix</a:t>
            </a:r>
            <a:r>
              <a:rPr lang="en-US" sz="1400" dirty="0">
                <a:hlinkClick r:id="rId8"/>
              </a:rPr>
              <a:t> Profile Container with Azure Files and AD DS or Microsoft Entra Domain Services - Azure Virtual Desktop | Microsoft Learn</a:t>
            </a:r>
            <a:endParaRPr lang="en-US" sz="1400" dirty="0"/>
          </a:p>
          <a:p>
            <a:endParaRPr lang="en-US" sz="1400" dirty="0"/>
          </a:p>
          <a:p>
            <a:endParaRPr lang="en-US" sz="1400" dirty="0"/>
          </a:p>
          <a:p>
            <a:endParaRPr lang="en-US" sz="1400" dirty="0"/>
          </a:p>
          <a:p>
            <a:endParaRPr lang="en-US" sz="1400" dirty="0"/>
          </a:p>
          <a:p>
            <a:endParaRPr lang="en-US" sz="2000" dirty="0"/>
          </a:p>
        </p:txBody>
      </p:sp>
    </p:spTree>
    <p:extLst>
      <p:ext uri="{BB962C8B-B14F-4D97-AF65-F5344CB8AC3E}">
        <p14:creationId xmlns:p14="http://schemas.microsoft.com/office/powerpoint/2010/main" val="1362023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5ECC8F-0496-7865-83FE-43F90F830AD7}"/>
              </a:ext>
            </a:extLst>
          </p:cNvPr>
          <p:cNvSpPr txBox="1"/>
          <p:nvPr/>
        </p:nvSpPr>
        <p:spPr>
          <a:xfrm>
            <a:off x="0" y="279763"/>
            <a:ext cx="11655846" cy="5078313"/>
          </a:xfrm>
          <a:prstGeom prst="rect">
            <a:avLst/>
          </a:prstGeom>
          <a:noFill/>
        </p:spPr>
        <p:txBody>
          <a:bodyPr wrap="square" rtlCol="0">
            <a:spAutoFit/>
          </a:bodyPr>
          <a:lstStyle/>
          <a:p>
            <a:r>
              <a:rPr lang="en-US" dirty="0"/>
              <a:t>Basic about user profiles….</a:t>
            </a:r>
          </a:p>
          <a:p>
            <a:endParaRPr lang="en-US" dirty="0"/>
          </a:p>
          <a:p>
            <a:pPr algn="l"/>
            <a:r>
              <a:rPr lang="en-US" b="1" i="0" dirty="0">
                <a:solidFill>
                  <a:srgbClr val="161616"/>
                </a:solidFill>
                <a:effectLst/>
                <a:latin typeface="Segoe UI" panose="020B0502040204020203" pitchFamily="34" charset="0"/>
              </a:rPr>
              <a:t>Types of User Profiles</a:t>
            </a:r>
          </a:p>
          <a:p>
            <a:pPr algn="l">
              <a:buFont typeface="Arial" panose="020B0604020202020204" pitchFamily="34" charset="0"/>
              <a:buChar char="•"/>
            </a:pPr>
            <a:r>
              <a:rPr lang="en-US" b="0" i="0" u="none" strike="noStrike" dirty="0">
                <a:solidFill>
                  <a:srgbClr val="161616"/>
                </a:solidFill>
                <a:effectLst/>
                <a:latin typeface="Segoe UI" panose="020B0502040204020203" pitchFamily="34" charset="0"/>
                <a:hlinkClick r:id="rId2"/>
              </a:rPr>
              <a:t>Local User Profiles</a:t>
            </a:r>
            <a:r>
              <a:rPr lang="en-US" b="0" i="0" dirty="0">
                <a:solidFill>
                  <a:srgbClr val="161616"/>
                </a:solidFill>
                <a:effectLst/>
                <a:latin typeface="Segoe UI" panose="020B0502040204020203" pitchFamily="34" charset="0"/>
              </a:rPr>
              <a:t>. A local user profile is created the first time that a user logs on to a computer. The profile is stored on the computer's local hard disk. Changes made to the local user profile are specific to the user and to the computer on which the changes are made.</a:t>
            </a:r>
          </a:p>
          <a:p>
            <a:pPr algn="l">
              <a:buFont typeface="Arial" panose="020B0604020202020204" pitchFamily="34" charset="0"/>
              <a:buChar char="•"/>
            </a:pPr>
            <a:r>
              <a:rPr lang="en-US" b="0" i="0" u="none" strike="noStrike" dirty="0">
                <a:solidFill>
                  <a:srgbClr val="161616"/>
                </a:solidFill>
                <a:effectLst/>
                <a:latin typeface="Segoe UI" panose="020B0502040204020203" pitchFamily="34" charset="0"/>
                <a:hlinkClick r:id="rId3"/>
              </a:rPr>
              <a:t>Roaming User Profiles</a:t>
            </a:r>
            <a:r>
              <a:rPr lang="en-US" b="0" i="0" dirty="0">
                <a:solidFill>
                  <a:srgbClr val="161616"/>
                </a:solidFill>
                <a:effectLst/>
                <a:latin typeface="Segoe UI" panose="020B0502040204020203" pitchFamily="34" charset="0"/>
              </a:rPr>
              <a:t>. A roaming user profile is a copy of the local profile that is copied to, and stored on, a server share. This profile is downloaded to any computer that a user logs onto on a network. Changes made to a roaming user profile are synchronized with the server copy of the profile when the user logs off. The advantage of roaming user profiles is that users do not need to create a profile on each computer they use on a network.</a:t>
            </a:r>
          </a:p>
          <a:p>
            <a:pPr algn="l">
              <a:buFont typeface="Arial" panose="020B0604020202020204" pitchFamily="34" charset="0"/>
              <a:buChar char="•"/>
            </a:pPr>
            <a:r>
              <a:rPr lang="en-US" b="0" i="0" u="none" strike="noStrike" dirty="0">
                <a:solidFill>
                  <a:srgbClr val="161616"/>
                </a:solidFill>
                <a:effectLst/>
                <a:latin typeface="Segoe UI" panose="020B0502040204020203" pitchFamily="34" charset="0"/>
                <a:hlinkClick r:id="rId4"/>
              </a:rPr>
              <a:t>Mandatory User Profiles</a:t>
            </a:r>
            <a:r>
              <a:rPr lang="en-US" b="0" i="0" dirty="0">
                <a:solidFill>
                  <a:srgbClr val="161616"/>
                </a:solidFill>
                <a:effectLst/>
                <a:latin typeface="Segoe UI" panose="020B0502040204020203" pitchFamily="34" charset="0"/>
              </a:rPr>
              <a:t>. A mandatory user profile is a type of profile that administrators can use to specify settings for users. Only system administrators can make changes to mandatory user profiles. Changes made by users to desktop settings are lost when the user logs off.</a:t>
            </a:r>
          </a:p>
          <a:p>
            <a:pPr algn="l">
              <a:buFont typeface="Arial" panose="020B0604020202020204" pitchFamily="34" charset="0"/>
              <a:buChar char="•"/>
            </a:pPr>
            <a:r>
              <a:rPr lang="en-US" b="0" i="0" u="none" strike="noStrike" dirty="0">
                <a:solidFill>
                  <a:srgbClr val="161616"/>
                </a:solidFill>
                <a:effectLst/>
                <a:latin typeface="Segoe UI" panose="020B0502040204020203" pitchFamily="34" charset="0"/>
                <a:hlinkClick r:id="rId5"/>
              </a:rPr>
              <a:t>Temporary User Profiles</a:t>
            </a:r>
            <a:r>
              <a:rPr lang="en-US" b="0" i="0" dirty="0">
                <a:solidFill>
                  <a:srgbClr val="161616"/>
                </a:solidFill>
                <a:effectLst/>
                <a:latin typeface="Segoe UI" panose="020B0502040204020203" pitchFamily="34" charset="0"/>
              </a:rPr>
              <a:t>. A temporary profile is issued each time that an error condition prevents the user's profile from loading. Temporary profiles are deleted at the end of each session, and changes made by the user to desktop settings and files are lost when the user logs off. Temporary profiles are only available on computers running Windows 2000 and later.</a:t>
            </a:r>
          </a:p>
          <a:p>
            <a:endParaRPr lang="en-US" dirty="0"/>
          </a:p>
        </p:txBody>
      </p:sp>
    </p:spTree>
    <p:extLst>
      <p:ext uri="{BB962C8B-B14F-4D97-AF65-F5344CB8AC3E}">
        <p14:creationId xmlns:p14="http://schemas.microsoft.com/office/powerpoint/2010/main" val="2281227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AA5F45-8600-20E6-BCBE-C4CDEFBD0466}"/>
              </a:ext>
            </a:extLst>
          </p:cNvPr>
          <p:cNvSpPr txBox="1"/>
          <p:nvPr/>
        </p:nvSpPr>
        <p:spPr>
          <a:xfrm>
            <a:off x="323161" y="430576"/>
            <a:ext cx="8408624" cy="2031325"/>
          </a:xfrm>
          <a:prstGeom prst="rect">
            <a:avLst/>
          </a:prstGeom>
          <a:noFill/>
        </p:spPr>
        <p:txBody>
          <a:bodyPr wrap="square" rtlCol="0">
            <a:spAutoFit/>
          </a:bodyPr>
          <a:lstStyle/>
          <a:p>
            <a:r>
              <a:rPr lang="en-US" b="1" dirty="0"/>
              <a:t>User profile disk that we user earlier with RDS…</a:t>
            </a:r>
          </a:p>
          <a:p>
            <a:endParaRPr lang="en-US" b="1" dirty="0"/>
          </a:p>
          <a:p>
            <a:r>
              <a:rPr lang="en-US" dirty="0"/>
              <a:t>User Profile Disks (UPDs) allow user data, customizations, and application settings to follow a user within a single collection. A UPD is a per-user, per-collection VHD file saved in a central share that is mounted to a user's session when they sign in - the UPD is treated as a local drive for the duration of that session.</a:t>
            </a:r>
          </a:p>
          <a:p>
            <a:endParaRPr lang="en-US" dirty="0"/>
          </a:p>
        </p:txBody>
      </p:sp>
      <p:pic>
        <p:nvPicPr>
          <p:cNvPr id="4" name="Picture 3">
            <a:extLst>
              <a:ext uri="{FF2B5EF4-FFF2-40B4-BE49-F238E27FC236}">
                <a16:creationId xmlns:a16="http://schemas.microsoft.com/office/drawing/2014/main" id="{1EBAE064-B78F-43F8-51EF-3F5DA376ED44}"/>
              </a:ext>
            </a:extLst>
          </p:cNvPr>
          <p:cNvPicPr>
            <a:picLocks noChangeAspect="1"/>
          </p:cNvPicPr>
          <p:nvPr/>
        </p:nvPicPr>
        <p:blipFill>
          <a:blip r:embed="rId2"/>
          <a:stretch>
            <a:fillRect/>
          </a:stretch>
        </p:blipFill>
        <p:spPr>
          <a:xfrm>
            <a:off x="348407" y="2370853"/>
            <a:ext cx="4179066" cy="2667137"/>
          </a:xfrm>
          <a:prstGeom prst="rect">
            <a:avLst/>
          </a:prstGeom>
        </p:spPr>
      </p:pic>
    </p:spTree>
    <p:extLst>
      <p:ext uri="{BB962C8B-B14F-4D97-AF65-F5344CB8AC3E}">
        <p14:creationId xmlns:p14="http://schemas.microsoft.com/office/powerpoint/2010/main" val="2497544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0EAC73-A42E-D202-65C9-AE4205365BAB}"/>
              </a:ext>
            </a:extLst>
          </p:cNvPr>
          <p:cNvSpPr txBox="1"/>
          <p:nvPr/>
        </p:nvSpPr>
        <p:spPr>
          <a:xfrm>
            <a:off x="222567" y="286701"/>
            <a:ext cx="11550333" cy="4401205"/>
          </a:xfrm>
          <a:prstGeom prst="rect">
            <a:avLst/>
          </a:prstGeom>
          <a:noFill/>
        </p:spPr>
        <p:txBody>
          <a:bodyPr wrap="square" rtlCol="0">
            <a:spAutoFit/>
          </a:bodyPr>
          <a:lstStyle/>
          <a:p>
            <a:r>
              <a:rPr lang="en-US" sz="2800" b="1" dirty="0"/>
              <a:t>What is fs-Logix</a:t>
            </a:r>
          </a:p>
          <a:p>
            <a:endParaRPr lang="en-US" b="1" dirty="0"/>
          </a:p>
          <a:p>
            <a:r>
              <a:rPr lang="en-US" dirty="0">
                <a:solidFill>
                  <a:srgbClr val="161616"/>
                </a:solidFill>
                <a:latin typeface="Segoe UI" panose="020B0502040204020203" pitchFamily="34" charset="0"/>
              </a:rPr>
              <a:t>FS-Logix Profile Containers use the approach of offloading profiles onto virtual disks and attaching them to the session as soon as a user logs on.</a:t>
            </a:r>
          </a:p>
          <a:p>
            <a:endParaRPr lang="en-US" dirty="0"/>
          </a:p>
          <a:p>
            <a:pPr algn="l"/>
            <a:r>
              <a:rPr lang="en-US" b="0" i="0" dirty="0">
                <a:solidFill>
                  <a:srgbClr val="161616"/>
                </a:solidFill>
                <a:effectLst/>
                <a:latin typeface="Segoe UI" panose="020B0502040204020203" pitchFamily="34" charset="0"/>
              </a:rPr>
              <a:t>FS-Logix enhances and enables a consistent experience for Windows user profiles in virtual desktop computing environments. FS-Logix isn't limited to virtual desktop environments, but could be used on physical desktops where a more portable user experience is desired.</a:t>
            </a:r>
          </a:p>
          <a:p>
            <a:pPr algn="l"/>
            <a:r>
              <a:rPr lang="en-US" b="0" i="0" dirty="0">
                <a:solidFill>
                  <a:srgbClr val="161616"/>
                </a:solidFill>
                <a:effectLst/>
                <a:latin typeface="Segoe UI" panose="020B0502040204020203" pitchFamily="34" charset="0"/>
              </a:rPr>
              <a:t>Here are a few things that FS-Logix provides:</a:t>
            </a:r>
          </a:p>
          <a:p>
            <a:pPr algn="l">
              <a:buFont typeface="Arial" panose="020B0604020202020204" pitchFamily="34" charset="0"/>
              <a:buChar char="•"/>
            </a:pPr>
            <a:r>
              <a:rPr lang="en-US" b="0" i="0" dirty="0">
                <a:solidFill>
                  <a:srgbClr val="161616"/>
                </a:solidFill>
                <a:effectLst/>
                <a:latin typeface="Segoe UI" panose="020B0502040204020203" pitchFamily="34" charset="0"/>
              </a:rPr>
              <a:t>Roam user data between remote computing session hosts.</a:t>
            </a:r>
          </a:p>
          <a:p>
            <a:pPr algn="l">
              <a:buFont typeface="Arial" panose="020B0604020202020204" pitchFamily="34" charset="0"/>
              <a:buChar char="•"/>
            </a:pPr>
            <a:r>
              <a:rPr lang="en-US" b="0" i="0" dirty="0">
                <a:solidFill>
                  <a:srgbClr val="161616"/>
                </a:solidFill>
                <a:effectLst/>
                <a:latin typeface="Segoe UI" panose="020B0502040204020203" pitchFamily="34" charset="0"/>
              </a:rPr>
              <a:t>Minimize sign in times for virtual desktop environments.</a:t>
            </a:r>
          </a:p>
          <a:p>
            <a:pPr algn="l">
              <a:buFont typeface="Arial" panose="020B0604020202020204" pitchFamily="34" charset="0"/>
              <a:buChar char="•"/>
            </a:pPr>
            <a:r>
              <a:rPr lang="en-US" b="0" i="0" dirty="0">
                <a:solidFill>
                  <a:srgbClr val="161616"/>
                </a:solidFill>
                <a:effectLst/>
                <a:latin typeface="Segoe UI" panose="020B0502040204020203" pitchFamily="34" charset="0"/>
              </a:rPr>
              <a:t>Optimize file I/O between host/client and remote profile store.</a:t>
            </a:r>
          </a:p>
          <a:p>
            <a:pPr algn="l">
              <a:buFont typeface="Arial" panose="020B0604020202020204" pitchFamily="34" charset="0"/>
              <a:buChar char="•"/>
            </a:pPr>
            <a:r>
              <a:rPr lang="en-US" b="0" i="0" dirty="0">
                <a:solidFill>
                  <a:srgbClr val="161616"/>
                </a:solidFill>
                <a:effectLst/>
                <a:latin typeface="Segoe UI" panose="020B0502040204020203" pitchFamily="34" charset="0"/>
              </a:rPr>
              <a:t>Provide a local profile experience, eliminating the need for roaming profiles.</a:t>
            </a:r>
          </a:p>
          <a:p>
            <a:pPr algn="l">
              <a:buFont typeface="Arial" panose="020B0604020202020204" pitchFamily="34" charset="0"/>
              <a:buChar char="•"/>
            </a:pPr>
            <a:r>
              <a:rPr lang="en-US" b="0" i="0" dirty="0">
                <a:solidFill>
                  <a:srgbClr val="161616"/>
                </a:solidFill>
                <a:effectLst/>
                <a:latin typeface="Segoe UI" panose="020B0502040204020203" pitchFamily="34" charset="0"/>
              </a:rPr>
              <a:t>Simplify the management of applications and 'Gold Images'.</a:t>
            </a:r>
          </a:p>
          <a:p>
            <a:endParaRPr lang="en-US" dirty="0"/>
          </a:p>
        </p:txBody>
      </p:sp>
    </p:spTree>
    <p:extLst>
      <p:ext uri="{BB962C8B-B14F-4D97-AF65-F5344CB8AC3E}">
        <p14:creationId xmlns:p14="http://schemas.microsoft.com/office/powerpoint/2010/main" val="2976916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98A795-36CC-680A-FD86-D58ACBF61913}"/>
              </a:ext>
            </a:extLst>
          </p:cNvPr>
          <p:cNvSpPr txBox="1"/>
          <p:nvPr/>
        </p:nvSpPr>
        <p:spPr>
          <a:xfrm>
            <a:off x="539826" y="678545"/>
            <a:ext cx="9320269" cy="4801314"/>
          </a:xfrm>
          <a:prstGeom prst="rect">
            <a:avLst/>
          </a:prstGeom>
          <a:noFill/>
        </p:spPr>
        <p:txBody>
          <a:bodyPr wrap="square">
            <a:spAutoFit/>
          </a:bodyPr>
          <a:lstStyle/>
          <a:p>
            <a:pPr algn="l"/>
            <a:r>
              <a:rPr lang="en-US" b="1" i="0" dirty="0">
                <a:solidFill>
                  <a:srgbClr val="161616"/>
                </a:solidFill>
                <a:effectLst/>
                <a:latin typeface="Segoe UI" panose="020B0502040204020203" pitchFamily="34" charset="0"/>
              </a:rPr>
              <a:t>Key capabilities</a:t>
            </a:r>
          </a:p>
          <a:p>
            <a:pPr algn="l">
              <a:buFont typeface="Arial" panose="020B0604020202020204" pitchFamily="34" charset="0"/>
              <a:buChar char="•"/>
            </a:pPr>
            <a:r>
              <a:rPr lang="en-US" b="0" i="0" dirty="0">
                <a:solidFill>
                  <a:srgbClr val="161616"/>
                </a:solidFill>
                <a:effectLst/>
                <a:latin typeface="Segoe UI" panose="020B0502040204020203" pitchFamily="34" charset="0"/>
              </a:rPr>
              <a:t>Redirect user profiles to a </a:t>
            </a:r>
            <a:r>
              <a:rPr lang="en-US" b="0" i="0" u="none" strike="noStrike" dirty="0">
                <a:solidFill>
                  <a:srgbClr val="161616"/>
                </a:solidFill>
                <a:effectLst/>
                <a:latin typeface="Segoe UI" panose="020B0502040204020203" pitchFamily="34" charset="0"/>
                <a:hlinkClick r:id="rId2"/>
              </a:rPr>
              <a:t>storage provider</a:t>
            </a:r>
            <a:r>
              <a:rPr lang="en-US" b="0" i="0" dirty="0">
                <a:solidFill>
                  <a:srgbClr val="161616"/>
                </a:solidFill>
                <a:effectLst/>
                <a:latin typeface="Segoe UI" panose="020B0502040204020203" pitchFamily="34" charset="0"/>
              </a:rPr>
              <a:t>. Mounting and using the profile from a storage provider eliminates delays often associated with solutions that copy profiles to and from a network location.</a:t>
            </a:r>
          </a:p>
          <a:p>
            <a:pPr algn="l">
              <a:buFont typeface="Arial" panose="020B0604020202020204" pitchFamily="34" charset="0"/>
              <a:buChar char="•"/>
            </a:pPr>
            <a:r>
              <a:rPr lang="en-US" b="0" i="0" dirty="0">
                <a:solidFill>
                  <a:srgbClr val="161616"/>
                </a:solidFill>
                <a:effectLst/>
                <a:latin typeface="Segoe UI" panose="020B0502040204020203" pitchFamily="34" charset="0"/>
              </a:rPr>
              <a:t>Redirect only the portion of the profile that contains Office</a:t>
            </a:r>
            <a:r>
              <a:rPr lang="en-US" b="0" i="0" baseline="30000" dirty="0">
                <a:solidFill>
                  <a:srgbClr val="161616"/>
                </a:solidFill>
                <a:effectLst/>
                <a:latin typeface="Segoe UI" panose="020B0502040204020203" pitchFamily="34" charset="0"/>
              </a:rPr>
              <a:t>1</a:t>
            </a:r>
            <a:r>
              <a:rPr lang="en-US" b="0" i="0" dirty="0">
                <a:solidFill>
                  <a:srgbClr val="161616"/>
                </a:solidFill>
                <a:effectLst/>
                <a:latin typeface="Segoe UI" panose="020B0502040204020203" pitchFamily="34" charset="0"/>
              </a:rPr>
              <a:t> data by using an </a:t>
            </a:r>
            <a:r>
              <a:rPr lang="en-US" b="0" i="0" u="none" strike="noStrike" dirty="0">
                <a:solidFill>
                  <a:srgbClr val="161616"/>
                </a:solidFill>
                <a:effectLst/>
                <a:latin typeface="Segoe UI" panose="020B0502040204020203" pitchFamily="34" charset="0"/>
                <a:hlinkClick r:id="rId2"/>
              </a:rPr>
              <a:t>ODFC</a:t>
            </a:r>
            <a:r>
              <a:rPr lang="en-US" b="0" i="0" dirty="0">
                <a:solidFill>
                  <a:srgbClr val="161616"/>
                </a:solidFill>
                <a:effectLst/>
                <a:latin typeface="Segoe UI" panose="020B0502040204020203" pitchFamily="34" charset="0"/>
              </a:rPr>
              <a:t> </a:t>
            </a:r>
            <a:r>
              <a:rPr lang="en-US" b="0" i="0" u="none" strike="noStrike" dirty="0">
                <a:solidFill>
                  <a:srgbClr val="161616"/>
                </a:solidFill>
                <a:effectLst/>
                <a:latin typeface="Segoe UI" panose="020B0502040204020203" pitchFamily="34" charset="0"/>
                <a:hlinkClick r:id="rId2"/>
              </a:rPr>
              <a:t>container</a:t>
            </a:r>
            <a:r>
              <a:rPr lang="en-US" b="0" i="0" dirty="0">
                <a:solidFill>
                  <a:srgbClr val="161616"/>
                </a:solidFill>
                <a:effectLst/>
                <a:latin typeface="Segoe UI" panose="020B0502040204020203" pitchFamily="34" charset="0"/>
              </a:rPr>
              <a:t>. The ODFC container allows an organization already using an alternate profile solution</a:t>
            </a:r>
            <a:r>
              <a:rPr lang="en-US" b="0" i="0" baseline="30000" dirty="0">
                <a:solidFill>
                  <a:srgbClr val="161616"/>
                </a:solidFill>
                <a:effectLst/>
                <a:latin typeface="Segoe UI" panose="020B0502040204020203" pitchFamily="34" charset="0"/>
              </a:rPr>
              <a:t>2</a:t>
            </a:r>
            <a:r>
              <a:rPr lang="en-US" b="0" i="0" dirty="0">
                <a:solidFill>
                  <a:srgbClr val="161616"/>
                </a:solidFill>
                <a:effectLst/>
                <a:latin typeface="Segoe UI" panose="020B0502040204020203" pitchFamily="34" charset="0"/>
              </a:rPr>
              <a:t> to enable Microsoft 365 applications in multi-session desktop environments.</a:t>
            </a:r>
          </a:p>
          <a:p>
            <a:pPr algn="l">
              <a:buFont typeface="Arial" panose="020B0604020202020204" pitchFamily="34" charset="0"/>
              <a:buChar char="•"/>
            </a:pPr>
            <a:r>
              <a:rPr lang="en-US" b="0" i="0" dirty="0">
                <a:solidFill>
                  <a:srgbClr val="161616"/>
                </a:solidFill>
                <a:effectLst/>
                <a:latin typeface="Segoe UI" panose="020B0502040204020203" pitchFamily="34" charset="0"/>
              </a:rPr>
              <a:t>Applications use the user's profile as if it were on the local disk. </a:t>
            </a:r>
            <a:r>
              <a:rPr lang="en-US" b="0" i="0" dirty="0" err="1">
                <a:solidFill>
                  <a:srgbClr val="161616"/>
                </a:solidFill>
                <a:effectLst/>
                <a:latin typeface="Segoe UI" panose="020B0502040204020203" pitchFamily="34" charset="0"/>
              </a:rPr>
              <a:t>FSLogix</a:t>
            </a:r>
            <a:r>
              <a:rPr lang="en-US" b="0" i="0" dirty="0">
                <a:solidFill>
                  <a:srgbClr val="161616"/>
                </a:solidFill>
                <a:effectLst/>
                <a:latin typeface="Segoe UI" panose="020B0502040204020203" pitchFamily="34" charset="0"/>
              </a:rPr>
              <a:t> uses a filter driver to virtualize and </a:t>
            </a:r>
            <a:r>
              <a:rPr lang="en-US" b="0" i="0" u="none" strike="noStrike" dirty="0">
                <a:solidFill>
                  <a:srgbClr val="161616"/>
                </a:solidFill>
                <a:effectLst/>
                <a:latin typeface="Segoe UI" panose="020B0502040204020203" pitchFamily="34" charset="0"/>
                <a:hlinkClick r:id="rId2"/>
              </a:rPr>
              <a:t>redirect</a:t>
            </a:r>
            <a:r>
              <a:rPr lang="en-US" b="0" i="0" dirty="0">
                <a:solidFill>
                  <a:srgbClr val="161616"/>
                </a:solidFill>
                <a:effectLst/>
                <a:latin typeface="Segoe UI" panose="020B0502040204020203" pitchFamily="34" charset="0"/>
              </a:rPr>
              <a:t> the profile at the file system level. Applications are unaware the profile is on the network. Obscuring the redirection is important because many applications can't work properly with a profile stored remotely.</a:t>
            </a:r>
          </a:p>
          <a:p>
            <a:pPr algn="l">
              <a:buFont typeface="Arial" panose="020B0604020202020204" pitchFamily="34" charset="0"/>
              <a:buChar char="•"/>
            </a:pPr>
            <a:r>
              <a:rPr lang="en-US" b="0" i="0" u="none" strike="noStrike" dirty="0">
                <a:solidFill>
                  <a:srgbClr val="161616"/>
                </a:solidFill>
                <a:effectLst/>
                <a:latin typeface="Segoe UI" panose="020B0502040204020203" pitchFamily="34" charset="0"/>
                <a:hlinkClick r:id="rId2"/>
              </a:rPr>
              <a:t>Profile</a:t>
            </a:r>
            <a:r>
              <a:rPr lang="en-US" b="0" i="0" dirty="0">
                <a:solidFill>
                  <a:srgbClr val="161616"/>
                </a:solidFill>
                <a:effectLst/>
                <a:latin typeface="Segoe UI" panose="020B0502040204020203" pitchFamily="34" charset="0"/>
              </a:rPr>
              <a:t> containers used with </a:t>
            </a:r>
            <a:r>
              <a:rPr lang="en-US" b="0" i="0" u="none" strike="noStrike" dirty="0">
                <a:solidFill>
                  <a:srgbClr val="161616"/>
                </a:solidFill>
                <a:effectLst/>
                <a:latin typeface="Segoe UI" panose="020B0502040204020203" pitchFamily="34" charset="0"/>
                <a:hlinkClick r:id="rId3"/>
              </a:rPr>
              <a:t>Cloud Cache</a:t>
            </a:r>
            <a:r>
              <a:rPr lang="en-US" b="0" i="0" dirty="0">
                <a:solidFill>
                  <a:srgbClr val="161616"/>
                </a:solidFill>
                <a:effectLst/>
                <a:latin typeface="Segoe UI" panose="020B0502040204020203" pitchFamily="34" charset="0"/>
              </a:rPr>
              <a:t> to provide </a:t>
            </a:r>
            <a:r>
              <a:rPr lang="en-US" b="0" i="0" u="none" strike="noStrike" dirty="0">
                <a:solidFill>
                  <a:srgbClr val="161616"/>
                </a:solidFill>
                <a:effectLst/>
                <a:latin typeface="Segoe UI" panose="020B0502040204020203" pitchFamily="34" charset="0"/>
                <a:hlinkClick r:id="rId4"/>
              </a:rPr>
              <a:t>high availability</a:t>
            </a:r>
            <a:r>
              <a:rPr lang="en-US" b="0" i="0" dirty="0">
                <a:solidFill>
                  <a:srgbClr val="161616"/>
                </a:solidFill>
                <a:effectLst/>
                <a:latin typeface="Segoe UI" panose="020B0502040204020203" pitchFamily="34" charset="0"/>
              </a:rPr>
              <a:t> and </a:t>
            </a:r>
            <a:r>
              <a:rPr lang="en-US" b="0" i="0" u="none" strike="noStrike" dirty="0">
                <a:solidFill>
                  <a:srgbClr val="161616"/>
                </a:solidFill>
                <a:effectLst/>
                <a:latin typeface="Segoe UI" panose="020B0502040204020203" pitchFamily="34" charset="0"/>
                <a:hlinkClick r:id="rId5"/>
              </a:rPr>
              <a:t>disaster recovery</a:t>
            </a:r>
            <a:r>
              <a:rPr lang="en-US" b="0" i="0" dirty="0">
                <a:solidFill>
                  <a:srgbClr val="161616"/>
                </a:solidFill>
                <a:effectLst/>
                <a:latin typeface="Segoe UI" panose="020B0502040204020203" pitchFamily="34" charset="0"/>
              </a:rPr>
              <a:t> profile solutions.</a:t>
            </a:r>
          </a:p>
          <a:p>
            <a:pPr algn="l">
              <a:buFont typeface="Arial" panose="020B0604020202020204" pitchFamily="34" charset="0"/>
              <a:buChar char="•"/>
            </a:pPr>
            <a:r>
              <a:rPr lang="en-US" b="0" i="0" u="none" strike="noStrike" dirty="0">
                <a:solidFill>
                  <a:srgbClr val="161616"/>
                </a:solidFill>
                <a:effectLst/>
                <a:latin typeface="Segoe UI" panose="020B0502040204020203" pitchFamily="34" charset="0"/>
                <a:hlinkClick r:id="rId6"/>
              </a:rPr>
              <a:t>Application Rule Sets</a:t>
            </a:r>
            <a:r>
              <a:rPr lang="en-US" b="0" i="0" dirty="0">
                <a:solidFill>
                  <a:srgbClr val="161616"/>
                </a:solidFill>
                <a:effectLst/>
                <a:latin typeface="Segoe UI" panose="020B0502040204020203" pitchFamily="34" charset="0"/>
              </a:rPr>
              <a:t> manage access to an application, font, printer, or other items. Access can be controlled using users, groups, IP Addresses, and other criteria. Application Rule Sets significantly decrease the complexity of managing large numbers of gold images.</a:t>
            </a:r>
          </a:p>
        </p:txBody>
      </p:sp>
    </p:spTree>
    <p:extLst>
      <p:ext uri="{BB962C8B-B14F-4D97-AF65-F5344CB8AC3E}">
        <p14:creationId xmlns:p14="http://schemas.microsoft.com/office/powerpoint/2010/main" val="1124100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685BD4-7CF7-DA14-1D92-4D166611B929}"/>
              </a:ext>
            </a:extLst>
          </p:cNvPr>
          <p:cNvSpPr txBox="1"/>
          <p:nvPr/>
        </p:nvSpPr>
        <p:spPr>
          <a:xfrm>
            <a:off x="506776" y="385589"/>
            <a:ext cx="10565176" cy="2862322"/>
          </a:xfrm>
          <a:prstGeom prst="rect">
            <a:avLst/>
          </a:prstGeom>
          <a:noFill/>
        </p:spPr>
        <p:txBody>
          <a:bodyPr wrap="square">
            <a:spAutoFit/>
          </a:bodyPr>
          <a:lstStyle/>
          <a:p>
            <a:pPr algn="l"/>
            <a:r>
              <a:rPr lang="en-US" b="0" i="0" dirty="0">
                <a:effectLst/>
                <a:latin typeface="Segoe UI VSS (Regular)"/>
              </a:rPr>
              <a:t>At logon time, the </a:t>
            </a:r>
            <a:r>
              <a:rPr lang="en-US" b="0" i="0" dirty="0" err="1">
                <a:effectLst/>
                <a:latin typeface="Segoe UI VSS (Regular)"/>
              </a:rPr>
              <a:t>FSLogix</a:t>
            </a:r>
            <a:r>
              <a:rPr lang="en-US" b="0" i="0" dirty="0">
                <a:effectLst/>
                <a:latin typeface="Segoe UI VSS (Regular)"/>
              </a:rPr>
              <a:t> services and drivers, pause the logon process, attach the containers from their network locations and do other setup/configuration, and then allow the logon process to proceed.</a:t>
            </a:r>
          </a:p>
          <a:p>
            <a:pPr algn="l"/>
            <a:endParaRPr lang="en-US" b="0" i="0" dirty="0">
              <a:effectLst/>
              <a:latin typeface="Segoe UI VSS (Regular)"/>
            </a:endParaRPr>
          </a:p>
          <a:p>
            <a:pPr algn="l"/>
            <a:r>
              <a:rPr lang="en-US" b="0" i="0" dirty="0">
                <a:effectLst/>
                <a:latin typeface="Segoe UI VSS (Regular)"/>
              </a:rPr>
              <a:t>Though the machine has never had the user logon to the machine before, when the populated </a:t>
            </a:r>
            <a:r>
              <a:rPr lang="en-US" b="0" i="0" dirty="0" err="1">
                <a:effectLst/>
                <a:latin typeface="Segoe UI VSS (Regular)"/>
              </a:rPr>
              <a:t>FSLogix</a:t>
            </a:r>
            <a:r>
              <a:rPr lang="en-US" b="0" i="0" dirty="0">
                <a:effectLst/>
                <a:latin typeface="Segoe UI VSS (Regular)"/>
              </a:rPr>
              <a:t> Profile container is attached, it appears to the OS and applications that the profile already existed on that machine.</a:t>
            </a:r>
          </a:p>
          <a:p>
            <a:pPr algn="l"/>
            <a:endParaRPr lang="en-US" b="0" i="0" dirty="0">
              <a:effectLst/>
              <a:latin typeface="Segoe UI VSS (Regular)"/>
            </a:endParaRPr>
          </a:p>
          <a:p>
            <a:pPr algn="l"/>
            <a:r>
              <a:rPr lang="en-US" b="0" i="0" dirty="0">
                <a:effectLst/>
                <a:latin typeface="Segoe UI VSS (Regular)"/>
              </a:rPr>
              <a:t>This allows non-persistent environments to easily host users on any machine as their profile data and settings appear as soon as they logon to the machine.</a:t>
            </a:r>
          </a:p>
        </p:txBody>
      </p:sp>
    </p:spTree>
    <p:extLst>
      <p:ext uri="{BB962C8B-B14F-4D97-AF65-F5344CB8AC3E}">
        <p14:creationId xmlns:p14="http://schemas.microsoft.com/office/powerpoint/2010/main" val="2318208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A8DC37-4986-1786-14A1-43536B0E043D}"/>
              </a:ext>
            </a:extLst>
          </p:cNvPr>
          <p:cNvSpPr txBox="1"/>
          <p:nvPr/>
        </p:nvSpPr>
        <p:spPr>
          <a:xfrm>
            <a:off x="283683" y="360669"/>
            <a:ext cx="9609463" cy="5909310"/>
          </a:xfrm>
          <a:prstGeom prst="rect">
            <a:avLst/>
          </a:prstGeom>
          <a:noFill/>
        </p:spPr>
        <p:txBody>
          <a:bodyPr wrap="square">
            <a:spAutoFit/>
          </a:bodyPr>
          <a:lstStyle/>
          <a:p>
            <a:pPr algn="l"/>
            <a:r>
              <a:rPr lang="en-US" b="1" i="0" dirty="0">
                <a:solidFill>
                  <a:srgbClr val="161616"/>
                </a:solidFill>
                <a:effectLst/>
                <a:latin typeface="Segoe UI" panose="020B0502040204020203" pitchFamily="34" charset="0"/>
              </a:rPr>
              <a:t>Types of containers : </a:t>
            </a:r>
            <a:r>
              <a:rPr lang="en-US" dirty="0">
                <a:hlinkClick r:id="rId2"/>
              </a:rPr>
              <a:t>Types of Containers - </a:t>
            </a:r>
            <a:r>
              <a:rPr lang="en-US" dirty="0" err="1">
                <a:hlinkClick r:id="rId2"/>
              </a:rPr>
              <a:t>FSLogix</a:t>
            </a:r>
            <a:r>
              <a:rPr lang="en-US" dirty="0">
                <a:hlinkClick r:id="rId2"/>
              </a:rPr>
              <a:t> | Microsoft Learn</a:t>
            </a:r>
            <a:endParaRPr lang="en-US" b="1" i="0" dirty="0">
              <a:solidFill>
                <a:srgbClr val="161616"/>
              </a:solidFill>
              <a:effectLst/>
              <a:latin typeface="Segoe UI" panose="020B0502040204020203" pitchFamily="34" charset="0"/>
            </a:endParaRPr>
          </a:p>
          <a:p>
            <a:pPr algn="l"/>
            <a:endParaRPr lang="en-US" b="1" dirty="0">
              <a:solidFill>
                <a:srgbClr val="161616"/>
              </a:solidFill>
              <a:latin typeface="Segoe UI" panose="020B0502040204020203" pitchFamily="34" charset="0"/>
            </a:endParaRPr>
          </a:p>
          <a:p>
            <a:pPr algn="l"/>
            <a:r>
              <a:rPr lang="en-US" b="1" i="0" dirty="0">
                <a:solidFill>
                  <a:srgbClr val="161616"/>
                </a:solidFill>
                <a:effectLst/>
                <a:latin typeface="Segoe UI" panose="020B0502040204020203" pitchFamily="34" charset="0"/>
              </a:rPr>
              <a:t>Profile container</a:t>
            </a:r>
          </a:p>
          <a:p>
            <a:pPr algn="l"/>
            <a:endParaRPr lang="en-US" b="1" i="0" dirty="0">
              <a:solidFill>
                <a:srgbClr val="161616"/>
              </a:solidFill>
              <a:effectLst/>
              <a:latin typeface="Segoe UI" panose="020B0502040204020203" pitchFamily="34" charset="0"/>
            </a:endParaRPr>
          </a:p>
          <a:p>
            <a:pPr algn="l"/>
            <a:r>
              <a:rPr lang="en-US" i="0" dirty="0">
                <a:solidFill>
                  <a:srgbClr val="161616"/>
                </a:solidFill>
                <a:effectLst/>
                <a:latin typeface="Segoe UI" panose="020B0502040204020203" pitchFamily="34" charset="0"/>
              </a:rPr>
              <a:t>A profile container is the most common container used in an </a:t>
            </a:r>
            <a:r>
              <a:rPr lang="en-US" i="0" dirty="0" err="1">
                <a:solidFill>
                  <a:srgbClr val="161616"/>
                </a:solidFill>
                <a:effectLst/>
                <a:latin typeface="Segoe UI" panose="020B0502040204020203" pitchFamily="34" charset="0"/>
              </a:rPr>
              <a:t>FSLogix</a:t>
            </a:r>
            <a:r>
              <a:rPr lang="en-US" i="0" dirty="0">
                <a:solidFill>
                  <a:srgbClr val="161616"/>
                </a:solidFill>
                <a:effectLst/>
                <a:latin typeface="Segoe UI" panose="020B0502040204020203" pitchFamily="34" charset="0"/>
              </a:rPr>
              <a:t> solution. A profile container is all the data related to a user's profile, which is directly stored in the VHD(x). A Windows user profile is typically stored in C:\Users\%username%. Nearly all the files and folders found under this location would be included in an </a:t>
            </a:r>
            <a:r>
              <a:rPr lang="en-US" i="0" dirty="0" err="1">
                <a:solidFill>
                  <a:srgbClr val="161616"/>
                </a:solidFill>
                <a:effectLst/>
                <a:latin typeface="Segoe UI" panose="020B0502040204020203" pitchFamily="34" charset="0"/>
              </a:rPr>
              <a:t>FSLogix</a:t>
            </a:r>
            <a:r>
              <a:rPr lang="en-US" i="0" dirty="0">
                <a:solidFill>
                  <a:srgbClr val="161616"/>
                </a:solidFill>
                <a:effectLst/>
                <a:latin typeface="Segoe UI" panose="020B0502040204020203" pitchFamily="34" charset="0"/>
              </a:rPr>
              <a:t> profile container. Some data in a users profile shouldn't or can't be roamed which can be found in the exclusion list.</a:t>
            </a:r>
          </a:p>
          <a:p>
            <a:pPr algn="l"/>
            <a:endParaRPr lang="en-US" i="0" dirty="0">
              <a:solidFill>
                <a:srgbClr val="161616"/>
              </a:solidFill>
              <a:effectLst/>
              <a:latin typeface="Segoe UI" panose="020B0502040204020203" pitchFamily="34" charset="0"/>
            </a:endParaRPr>
          </a:p>
          <a:p>
            <a:pPr algn="l"/>
            <a:r>
              <a:rPr lang="en-US" i="0" dirty="0">
                <a:solidFill>
                  <a:srgbClr val="161616"/>
                </a:solidFill>
                <a:effectLst/>
                <a:latin typeface="Segoe UI" panose="020B0502040204020203" pitchFamily="34" charset="0"/>
              </a:rPr>
              <a:t>For users familiar with managing profiles, the function of the profile container may be compared to Microsoft User Profile Disk (UPD), Microsoft roaming profiles, or Citrix User Profile Management (UPM). Although the function is similar, the underlying method and technology is different, resulting in key </a:t>
            </a:r>
            <a:r>
              <a:rPr lang="en-US" i="0" dirty="0" err="1">
                <a:solidFill>
                  <a:srgbClr val="161616"/>
                </a:solidFill>
                <a:effectLst/>
                <a:latin typeface="Segoe UI" panose="020B0502040204020203" pitchFamily="34" charset="0"/>
              </a:rPr>
              <a:t>FSLogix</a:t>
            </a:r>
            <a:r>
              <a:rPr lang="en-US" i="0" dirty="0">
                <a:solidFill>
                  <a:srgbClr val="161616"/>
                </a:solidFill>
                <a:effectLst/>
                <a:latin typeface="Segoe UI" panose="020B0502040204020203" pitchFamily="34" charset="0"/>
              </a:rPr>
              <a:t> capabilities.</a:t>
            </a:r>
          </a:p>
          <a:p>
            <a:pPr algn="l"/>
            <a:endParaRPr lang="en-US" dirty="0">
              <a:solidFill>
                <a:srgbClr val="161616"/>
              </a:solidFill>
              <a:latin typeface="Segoe UI" panose="020B0502040204020203" pitchFamily="34" charset="0"/>
            </a:endParaRPr>
          </a:p>
          <a:p>
            <a:pPr algn="l"/>
            <a:endParaRPr lang="en-US" i="0" dirty="0">
              <a:solidFill>
                <a:srgbClr val="161616"/>
              </a:solidFill>
              <a:effectLst/>
              <a:latin typeface="Segoe UI" panose="020B0502040204020203" pitchFamily="34" charset="0"/>
            </a:endParaRPr>
          </a:p>
          <a:p>
            <a:pPr algn="l"/>
            <a:r>
              <a:rPr lang="en-US" b="1" i="0" dirty="0">
                <a:solidFill>
                  <a:srgbClr val="161616"/>
                </a:solidFill>
                <a:effectLst/>
                <a:latin typeface="Segoe UI" panose="020B0502040204020203" pitchFamily="34" charset="0"/>
              </a:rPr>
              <a:t>ODFC container</a:t>
            </a:r>
          </a:p>
          <a:p>
            <a:pPr algn="l"/>
            <a:r>
              <a:rPr lang="en-US" b="0" i="0" dirty="0">
                <a:solidFill>
                  <a:srgbClr val="161616"/>
                </a:solidFill>
                <a:effectLst/>
                <a:latin typeface="Segoe UI" panose="020B0502040204020203" pitchFamily="34" charset="0"/>
              </a:rPr>
              <a:t>An </a:t>
            </a:r>
            <a:r>
              <a:rPr lang="en-US" b="0" i="0" u="none" strike="noStrike" dirty="0">
                <a:solidFill>
                  <a:srgbClr val="161616"/>
                </a:solidFill>
                <a:effectLst/>
                <a:latin typeface="Segoe UI" panose="020B0502040204020203" pitchFamily="34" charset="0"/>
                <a:hlinkClick r:id="rId3"/>
              </a:rPr>
              <a:t>ODFC</a:t>
            </a:r>
            <a:r>
              <a:rPr lang="en-US" b="0" i="0" dirty="0">
                <a:solidFill>
                  <a:srgbClr val="161616"/>
                </a:solidFill>
                <a:effectLst/>
                <a:latin typeface="Segoe UI" panose="020B0502040204020203" pitchFamily="34" charset="0"/>
              </a:rPr>
              <a:t> container is a container type, which is focused on storing profile content that is unique to Microsoft Office applications. The ODFC container is most commonly implemented in conjunction other roaming profile solutions.</a:t>
            </a:r>
          </a:p>
          <a:p>
            <a:pPr algn="l"/>
            <a:endParaRPr lang="en-US" i="0" dirty="0">
              <a:solidFill>
                <a:srgbClr val="161616"/>
              </a:solidFill>
              <a:effectLst/>
              <a:latin typeface="Segoe UI" panose="020B0502040204020203" pitchFamily="34" charset="0"/>
            </a:endParaRPr>
          </a:p>
        </p:txBody>
      </p:sp>
    </p:spTree>
    <p:extLst>
      <p:ext uri="{BB962C8B-B14F-4D97-AF65-F5344CB8AC3E}">
        <p14:creationId xmlns:p14="http://schemas.microsoft.com/office/powerpoint/2010/main" val="2936196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60ACC9-EAAF-C716-6F5B-C9E1CBB56F9F}"/>
              </a:ext>
            </a:extLst>
          </p:cNvPr>
          <p:cNvSpPr txBox="1"/>
          <p:nvPr/>
        </p:nvSpPr>
        <p:spPr>
          <a:xfrm>
            <a:off x="261651" y="511750"/>
            <a:ext cx="6097836" cy="1477328"/>
          </a:xfrm>
          <a:prstGeom prst="rect">
            <a:avLst/>
          </a:prstGeom>
          <a:noFill/>
        </p:spPr>
        <p:txBody>
          <a:bodyPr wrap="square">
            <a:spAutoFit/>
          </a:bodyPr>
          <a:lstStyle/>
          <a:p>
            <a:pPr algn="l">
              <a:buFont typeface="Arial" panose="020B0604020202020204" pitchFamily="34" charset="0"/>
              <a:buChar char="•"/>
            </a:pPr>
            <a:r>
              <a:rPr lang="en-US" b="0" i="0" dirty="0">
                <a:solidFill>
                  <a:srgbClr val="161616"/>
                </a:solidFill>
                <a:effectLst/>
                <a:latin typeface="Segoe UI" panose="020B0502040204020203" pitchFamily="34" charset="0"/>
              </a:rPr>
              <a:t>Normal profile behavior.</a:t>
            </a:r>
          </a:p>
          <a:p>
            <a:pPr algn="l">
              <a:buFont typeface="Arial" panose="020B0604020202020204" pitchFamily="34" charset="0"/>
              <a:buChar char="•"/>
            </a:pPr>
            <a:r>
              <a:rPr lang="en-US" b="0" i="0" dirty="0">
                <a:solidFill>
                  <a:srgbClr val="161616"/>
                </a:solidFill>
                <a:effectLst/>
                <a:latin typeface="Segoe UI" panose="020B0502040204020203" pitchFamily="34" charset="0"/>
              </a:rPr>
              <a:t>Machine should only be the RW profile instance.</a:t>
            </a:r>
          </a:p>
          <a:p>
            <a:pPr algn="l">
              <a:buFont typeface="Arial" panose="020B0604020202020204" pitchFamily="34" charset="0"/>
              <a:buChar char="•"/>
            </a:pPr>
            <a:r>
              <a:rPr lang="en-US" b="0" i="0" dirty="0">
                <a:solidFill>
                  <a:srgbClr val="161616"/>
                </a:solidFill>
                <a:effectLst/>
                <a:latin typeface="Segoe UI" panose="020B0502040204020203" pitchFamily="34" charset="0"/>
              </a:rPr>
              <a:t>Machine should only be the RO profile instance.</a:t>
            </a:r>
          </a:p>
          <a:p>
            <a:pPr algn="l">
              <a:buFont typeface="Arial" panose="020B0604020202020204" pitchFamily="34" charset="0"/>
              <a:buChar char="•"/>
            </a:pPr>
            <a:r>
              <a:rPr lang="en-US" b="0" i="0" dirty="0">
                <a:solidFill>
                  <a:srgbClr val="161616"/>
                </a:solidFill>
                <a:effectLst/>
                <a:latin typeface="Segoe UI" panose="020B0502040204020203" pitchFamily="34" charset="0"/>
              </a:rPr>
              <a:t>Machine should try to take the RW role and if it can't, it should fall back to a RO role.</a:t>
            </a:r>
          </a:p>
        </p:txBody>
      </p:sp>
      <p:sp>
        <p:nvSpPr>
          <p:cNvPr id="5" name="TextBox 4">
            <a:extLst>
              <a:ext uri="{FF2B5EF4-FFF2-40B4-BE49-F238E27FC236}">
                <a16:creationId xmlns:a16="http://schemas.microsoft.com/office/drawing/2014/main" id="{B57B3A13-E900-AD14-4DFF-EFB4E90D704C}"/>
              </a:ext>
            </a:extLst>
          </p:cNvPr>
          <p:cNvSpPr txBox="1"/>
          <p:nvPr/>
        </p:nvSpPr>
        <p:spPr>
          <a:xfrm>
            <a:off x="261651" y="5779390"/>
            <a:ext cx="6097836" cy="923330"/>
          </a:xfrm>
          <a:prstGeom prst="rect">
            <a:avLst/>
          </a:prstGeom>
          <a:noFill/>
        </p:spPr>
        <p:txBody>
          <a:bodyPr wrap="square">
            <a:spAutoFit/>
          </a:bodyPr>
          <a:lstStyle/>
          <a:p>
            <a:pPr algn="l"/>
            <a:r>
              <a:rPr lang="en-US" b="0" i="0" dirty="0">
                <a:solidFill>
                  <a:srgbClr val="161616"/>
                </a:solidFill>
                <a:effectLst/>
                <a:latin typeface="Segoe UI" panose="020B0502040204020203" pitchFamily="34" charset="0"/>
              </a:rPr>
              <a:t>Note : Microsoft Entra joined VMs can only access </a:t>
            </a:r>
            <a:r>
              <a:rPr lang="en-US" b="0" i="0" u="none" strike="noStrike" dirty="0">
                <a:solidFill>
                  <a:srgbClr val="161616"/>
                </a:solidFill>
                <a:effectLst/>
                <a:latin typeface="Segoe UI" panose="020B0502040204020203" pitchFamily="34" charset="0"/>
                <a:hlinkClick r:id="rId2"/>
              </a:rPr>
              <a:t>Azure Files shares</a:t>
            </a:r>
            <a:r>
              <a:rPr lang="en-US" b="0" i="0" dirty="0">
                <a:solidFill>
                  <a:srgbClr val="161616"/>
                </a:solidFill>
                <a:effectLst/>
                <a:latin typeface="Segoe UI" panose="020B0502040204020203" pitchFamily="34" charset="0"/>
              </a:rPr>
              <a:t> or </a:t>
            </a:r>
            <a:r>
              <a:rPr lang="en-US" b="0" i="0" u="none" strike="noStrike" dirty="0">
                <a:solidFill>
                  <a:srgbClr val="161616"/>
                </a:solidFill>
                <a:effectLst/>
                <a:latin typeface="Segoe UI" panose="020B0502040204020203" pitchFamily="34" charset="0"/>
                <a:hlinkClick r:id="rId3"/>
              </a:rPr>
              <a:t>Azure NetApp Files shares</a:t>
            </a:r>
            <a:r>
              <a:rPr lang="en-US" b="0" i="0" dirty="0">
                <a:solidFill>
                  <a:srgbClr val="161616"/>
                </a:solidFill>
                <a:effectLst/>
                <a:latin typeface="Segoe UI" panose="020B0502040204020203" pitchFamily="34" charset="0"/>
              </a:rPr>
              <a:t> for hybrid users using Microsoft Entra Kerberos for </a:t>
            </a:r>
            <a:r>
              <a:rPr lang="en-US" b="0" i="0" dirty="0" err="1">
                <a:solidFill>
                  <a:srgbClr val="161616"/>
                </a:solidFill>
                <a:effectLst/>
                <a:latin typeface="Segoe UI" panose="020B0502040204020203" pitchFamily="34" charset="0"/>
              </a:rPr>
              <a:t>FSLogix</a:t>
            </a:r>
            <a:r>
              <a:rPr lang="en-US" b="0" i="0" dirty="0">
                <a:solidFill>
                  <a:srgbClr val="161616"/>
                </a:solidFill>
                <a:effectLst/>
                <a:latin typeface="Segoe UI" panose="020B0502040204020203" pitchFamily="34" charset="0"/>
              </a:rPr>
              <a:t> user profiles.</a:t>
            </a:r>
          </a:p>
        </p:txBody>
      </p:sp>
    </p:spTree>
    <p:extLst>
      <p:ext uri="{BB962C8B-B14F-4D97-AF65-F5344CB8AC3E}">
        <p14:creationId xmlns:p14="http://schemas.microsoft.com/office/powerpoint/2010/main" val="694838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501BF8-07C5-0DFF-A3A9-ADAAFAAB2B4B}"/>
              </a:ext>
            </a:extLst>
          </p:cNvPr>
          <p:cNvSpPr txBox="1"/>
          <p:nvPr/>
        </p:nvSpPr>
        <p:spPr>
          <a:xfrm>
            <a:off x="570123" y="316601"/>
            <a:ext cx="9168788" cy="3970318"/>
          </a:xfrm>
          <a:prstGeom prst="rect">
            <a:avLst/>
          </a:prstGeom>
          <a:noFill/>
        </p:spPr>
        <p:txBody>
          <a:bodyPr wrap="square">
            <a:spAutoFit/>
          </a:bodyPr>
          <a:lstStyle/>
          <a:p>
            <a:pPr algn="l"/>
            <a:r>
              <a:rPr lang="en-US" b="1" i="0" dirty="0">
                <a:solidFill>
                  <a:srgbClr val="161616"/>
                </a:solidFill>
                <a:effectLst/>
                <a:latin typeface="Segoe UI" panose="020B0502040204020203" pitchFamily="34" charset="0"/>
              </a:rPr>
              <a:t>Cloud Cache Overview : </a:t>
            </a:r>
            <a:r>
              <a:rPr lang="en-US" dirty="0">
                <a:hlinkClick r:id="rId2"/>
              </a:rPr>
              <a:t>Cloud Cache Overview - </a:t>
            </a:r>
            <a:r>
              <a:rPr lang="en-US" dirty="0" err="1">
                <a:hlinkClick r:id="rId2"/>
              </a:rPr>
              <a:t>FSLogix</a:t>
            </a:r>
            <a:r>
              <a:rPr lang="en-US" dirty="0">
                <a:hlinkClick r:id="rId2"/>
              </a:rPr>
              <a:t> | Microsoft Learn</a:t>
            </a:r>
            <a:endParaRPr lang="en-US" dirty="0"/>
          </a:p>
          <a:p>
            <a:pPr algn="l"/>
            <a:endParaRPr lang="en-US" b="1" i="0" dirty="0">
              <a:solidFill>
                <a:srgbClr val="161616"/>
              </a:solidFill>
              <a:effectLst/>
              <a:latin typeface="Segoe UI" panose="020B0502040204020203" pitchFamily="34" charset="0"/>
            </a:endParaRPr>
          </a:p>
          <a:p>
            <a:pPr algn="l"/>
            <a:r>
              <a:rPr lang="en-US" b="0" i="0" dirty="0">
                <a:solidFill>
                  <a:srgbClr val="161616"/>
                </a:solidFill>
                <a:effectLst/>
                <a:latin typeface="Segoe UI" panose="020B0502040204020203" pitchFamily="34" charset="0"/>
              </a:rPr>
              <a:t>Cloud Cache is a feature that works with Profile and ODFC containers to provide resiliency and high availability. Cloud Cache uses the locally mounted container to provide periodic updates to the </a:t>
            </a:r>
            <a:r>
              <a:rPr lang="en-US" b="0" i="0" u="none" strike="noStrike" dirty="0">
                <a:effectLst/>
                <a:latin typeface="Segoe UI" panose="020B0502040204020203" pitchFamily="34" charset="0"/>
                <a:hlinkClick r:id="rId3"/>
              </a:rPr>
              <a:t>remote storage providers</a:t>
            </a:r>
            <a:r>
              <a:rPr lang="en-US" b="0" i="0" dirty="0">
                <a:solidFill>
                  <a:srgbClr val="161616"/>
                </a:solidFill>
                <a:effectLst/>
                <a:latin typeface="Segoe UI" panose="020B0502040204020203" pitchFamily="34" charset="0"/>
              </a:rPr>
              <a:t>. Cloud Cache is designed to insulate users from short-term or intermittent local (inner-region, close proximity) storage issues. Based on the configuration, it can also be used as part of a Business Continuity or Disaster Recovery (BCDR) plan when using remote storage providers in different regions. Using Cloud Cache puts a </a:t>
            </a:r>
            <a:r>
              <a:rPr lang="en-US" b="1" i="0" dirty="0">
                <a:solidFill>
                  <a:srgbClr val="161616"/>
                </a:solidFill>
                <a:effectLst/>
                <a:latin typeface="Segoe UI" panose="020B0502040204020203" pitchFamily="34" charset="0"/>
              </a:rPr>
              <a:t>performance and storage requirement</a:t>
            </a:r>
            <a:r>
              <a:rPr lang="en-US" b="0" i="0" dirty="0">
                <a:solidFill>
                  <a:srgbClr val="161616"/>
                </a:solidFill>
                <a:effectLst/>
                <a:latin typeface="Segoe UI" panose="020B0502040204020203" pitchFamily="34" charset="0"/>
              </a:rPr>
              <a:t> on the virtual machine to accommodate the extra I/O operations and storage required by the </a:t>
            </a:r>
            <a:r>
              <a:rPr lang="en-US" b="0" i="0" u="none" strike="noStrike" dirty="0">
                <a:effectLst/>
                <a:latin typeface="Segoe UI" panose="020B0502040204020203" pitchFamily="34" charset="0"/>
                <a:hlinkClick r:id="rId4"/>
              </a:rPr>
              <a:t>local cache</a:t>
            </a:r>
            <a:r>
              <a:rPr lang="en-US" b="0" i="0" dirty="0">
                <a:solidFill>
                  <a:srgbClr val="161616"/>
                </a:solidFill>
                <a:effectLst/>
                <a:latin typeface="Segoe UI" panose="020B0502040204020203" pitchFamily="34" charset="0"/>
              </a:rPr>
              <a:t>.</a:t>
            </a:r>
          </a:p>
          <a:p>
            <a:pPr algn="l"/>
            <a:endParaRPr lang="en-US" dirty="0">
              <a:solidFill>
                <a:srgbClr val="161616"/>
              </a:solidFill>
              <a:latin typeface="Segoe UI" panose="020B0502040204020203" pitchFamily="34" charset="0"/>
            </a:endParaRPr>
          </a:p>
          <a:p>
            <a:pPr algn="l"/>
            <a:endParaRPr lang="en-US" b="1" i="0" dirty="0">
              <a:solidFill>
                <a:srgbClr val="161616"/>
              </a:solidFill>
              <a:effectLst/>
              <a:latin typeface="Segoe UI" panose="020B0502040204020203" pitchFamily="34" charset="0"/>
            </a:endParaRPr>
          </a:p>
          <a:p>
            <a:pPr algn="l"/>
            <a:r>
              <a:rPr lang="en-US" b="1" dirty="0">
                <a:solidFill>
                  <a:srgbClr val="161616"/>
                </a:solidFill>
                <a:latin typeface="Segoe UI" panose="020B0502040204020203" pitchFamily="34" charset="0"/>
              </a:rPr>
              <a:t>Will discuss this from public Article</a:t>
            </a:r>
            <a:endParaRPr lang="en-US" b="1" i="0" dirty="0">
              <a:solidFill>
                <a:srgbClr val="161616"/>
              </a:solidFill>
              <a:effectLst/>
              <a:latin typeface="Segoe UI" panose="020B0502040204020203" pitchFamily="34" charset="0"/>
            </a:endParaRPr>
          </a:p>
        </p:txBody>
      </p:sp>
    </p:spTree>
    <p:extLst>
      <p:ext uri="{BB962C8B-B14F-4D97-AF65-F5344CB8AC3E}">
        <p14:creationId xmlns:p14="http://schemas.microsoft.com/office/powerpoint/2010/main" val="2300022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4CCB8F-8FAC-B88F-633C-6916AFD231AC}"/>
              </a:ext>
            </a:extLst>
          </p:cNvPr>
          <p:cNvSpPr txBox="1"/>
          <p:nvPr/>
        </p:nvSpPr>
        <p:spPr>
          <a:xfrm>
            <a:off x="373525" y="191484"/>
            <a:ext cx="8727582" cy="3970318"/>
          </a:xfrm>
          <a:prstGeom prst="rect">
            <a:avLst/>
          </a:prstGeom>
          <a:noFill/>
        </p:spPr>
        <p:txBody>
          <a:bodyPr wrap="none" rtlCol="0">
            <a:spAutoFit/>
          </a:bodyPr>
          <a:lstStyle/>
          <a:p>
            <a:r>
              <a:rPr lang="en-US" b="1" dirty="0"/>
              <a:t>How to setup (we will be using local share location in DC to store Fs-</a:t>
            </a:r>
            <a:r>
              <a:rPr lang="en-US" b="1" dirty="0" err="1"/>
              <a:t>logix</a:t>
            </a:r>
            <a:r>
              <a:rPr lang="en-US" b="1" dirty="0"/>
              <a:t> profiles</a:t>
            </a:r>
            <a:r>
              <a:rPr lang="en-US" dirty="0"/>
              <a:t>)</a:t>
            </a:r>
          </a:p>
          <a:p>
            <a:endParaRPr lang="en-US" dirty="0"/>
          </a:p>
          <a:p>
            <a:endParaRPr lang="en-US" dirty="0"/>
          </a:p>
          <a:p>
            <a:r>
              <a:rPr lang="en-US" dirty="0"/>
              <a:t>&gt; Other storage solution</a:t>
            </a:r>
          </a:p>
          <a:p>
            <a:r>
              <a:rPr lang="en-US" dirty="0"/>
              <a:t>Customer can use Any SMB shares, also Azure file, </a:t>
            </a:r>
            <a:r>
              <a:rPr lang="en-US" dirty="0" err="1"/>
              <a:t>netapp</a:t>
            </a:r>
            <a:r>
              <a:rPr lang="en-US" dirty="0"/>
              <a:t> files or blob storage as well.</a:t>
            </a:r>
          </a:p>
          <a:p>
            <a:endParaRPr lang="en-US" dirty="0"/>
          </a:p>
          <a:p>
            <a:pPr algn="l"/>
            <a:r>
              <a:rPr lang="en-US" b="1" i="0" dirty="0">
                <a:solidFill>
                  <a:srgbClr val="161616"/>
                </a:solidFill>
                <a:effectLst/>
                <a:latin typeface="Segoe UI" panose="020B0502040204020203" pitchFamily="34" charset="0"/>
              </a:rPr>
              <a:t>Prerequisites</a:t>
            </a:r>
          </a:p>
          <a:p>
            <a:pPr algn="l">
              <a:buFont typeface="Arial" panose="020B0604020202020204" pitchFamily="34" charset="0"/>
              <a:buChar char="•"/>
            </a:pPr>
            <a:r>
              <a:rPr lang="en-US" b="0" i="0" dirty="0">
                <a:solidFill>
                  <a:srgbClr val="161616"/>
                </a:solidFill>
                <a:effectLst/>
                <a:latin typeface="Segoe UI" panose="020B0502040204020203" pitchFamily="34" charset="0"/>
              </a:rPr>
              <a:t>Successful deployment of a virtual desktop or </a:t>
            </a:r>
            <a:r>
              <a:rPr lang="en-US" b="0" i="0" u="none" strike="noStrike" dirty="0">
                <a:solidFill>
                  <a:srgbClr val="161616"/>
                </a:solidFill>
                <a:effectLst/>
                <a:latin typeface="Segoe UI" panose="020B0502040204020203" pitchFamily="34" charset="0"/>
                <a:hlinkClick r:id="rId2"/>
              </a:rPr>
              <a:t>Azure Virtual Desktop</a:t>
            </a:r>
            <a:r>
              <a:rPr lang="en-US" b="0" i="0" dirty="0">
                <a:solidFill>
                  <a:srgbClr val="161616"/>
                </a:solidFill>
                <a:effectLst/>
                <a:latin typeface="Segoe UI" panose="020B0502040204020203" pitchFamily="34" charset="0"/>
              </a:rPr>
              <a:t> environment.</a:t>
            </a:r>
          </a:p>
          <a:p>
            <a:pPr algn="l">
              <a:buFont typeface="Arial" panose="020B0604020202020204" pitchFamily="34" charset="0"/>
              <a:buChar char="•"/>
            </a:pPr>
            <a:r>
              <a:rPr lang="en-US" b="0" i="0" dirty="0">
                <a:solidFill>
                  <a:srgbClr val="161616"/>
                </a:solidFill>
                <a:effectLst/>
                <a:latin typeface="Segoe UI" panose="020B0502040204020203" pitchFamily="34" charset="0"/>
              </a:rPr>
              <a:t>SMB file share with NTFS and share-level permissions </a:t>
            </a:r>
            <a:r>
              <a:rPr lang="en-US" b="0" i="0" u="none" strike="noStrike" dirty="0">
                <a:solidFill>
                  <a:srgbClr val="161616"/>
                </a:solidFill>
                <a:effectLst/>
                <a:latin typeface="Segoe UI" panose="020B0502040204020203" pitchFamily="34" charset="0"/>
                <a:hlinkClick r:id="rId3"/>
              </a:rPr>
              <a:t>correctly configured</a:t>
            </a:r>
            <a:r>
              <a:rPr lang="en-US" b="0" i="0" dirty="0">
                <a:solidFill>
                  <a:srgbClr val="161616"/>
                </a:solidFill>
                <a:effectLst/>
                <a:latin typeface="Segoe UI" panose="020B0502040204020203" pitchFamily="34" charset="0"/>
              </a:rPr>
              <a:t>.</a:t>
            </a:r>
          </a:p>
          <a:p>
            <a:pPr algn="l">
              <a:buFont typeface="Arial" panose="020B0604020202020204" pitchFamily="34" charset="0"/>
              <a:buChar char="•"/>
            </a:pPr>
            <a:r>
              <a:rPr lang="en-US" b="0" i="0" u="none" strike="noStrike" dirty="0">
                <a:solidFill>
                  <a:srgbClr val="161616"/>
                </a:solidFill>
                <a:effectLst/>
                <a:latin typeface="Segoe UI" panose="020B0502040204020203" pitchFamily="34" charset="0"/>
                <a:hlinkClick r:id="rId4"/>
              </a:rPr>
              <a:t>Download</a:t>
            </a:r>
            <a:r>
              <a:rPr lang="en-US" b="0" i="0" dirty="0">
                <a:solidFill>
                  <a:srgbClr val="161616"/>
                </a:solidFill>
                <a:effectLst/>
                <a:latin typeface="Segoe UI" panose="020B0502040204020203" pitchFamily="34" charset="0"/>
              </a:rPr>
              <a:t> and </a:t>
            </a:r>
            <a:r>
              <a:rPr lang="en-US" b="0" i="0" u="none" strike="noStrike" dirty="0">
                <a:solidFill>
                  <a:srgbClr val="161616"/>
                </a:solidFill>
                <a:effectLst/>
                <a:latin typeface="Segoe UI" panose="020B0502040204020203" pitchFamily="34" charset="0"/>
                <a:hlinkClick r:id="rId5"/>
              </a:rPr>
              <a:t>install</a:t>
            </a:r>
            <a:r>
              <a:rPr lang="en-US" b="0" i="0" dirty="0">
                <a:solidFill>
                  <a:srgbClr val="161616"/>
                </a:solidFill>
                <a:effectLst/>
                <a:latin typeface="Segoe UI" panose="020B0502040204020203" pitchFamily="34" charset="0"/>
              </a:rPr>
              <a:t> the latest version of </a:t>
            </a:r>
            <a:r>
              <a:rPr lang="en-US" b="0" i="0" dirty="0" err="1">
                <a:solidFill>
                  <a:srgbClr val="161616"/>
                </a:solidFill>
                <a:effectLst/>
                <a:latin typeface="Segoe UI" panose="020B0502040204020203" pitchFamily="34" charset="0"/>
              </a:rPr>
              <a:t>FSLogix</a:t>
            </a:r>
            <a:r>
              <a:rPr lang="en-US" b="0" i="0" dirty="0">
                <a:solidFill>
                  <a:srgbClr val="161616"/>
                </a:solidFill>
                <a:effectLst/>
                <a:latin typeface="Segoe UI" panose="020B0502040204020203" pitchFamily="34" charset="0"/>
              </a:rPr>
              <a:t>.</a:t>
            </a:r>
          </a:p>
          <a:p>
            <a:pPr algn="l">
              <a:buFont typeface="Arial" panose="020B0604020202020204" pitchFamily="34" charset="0"/>
              <a:buChar char="•"/>
            </a:pPr>
            <a:r>
              <a:rPr lang="en-US" b="0" i="0" dirty="0">
                <a:solidFill>
                  <a:srgbClr val="161616"/>
                </a:solidFill>
                <a:effectLst/>
                <a:latin typeface="Segoe UI" panose="020B0502040204020203" pitchFamily="34" charset="0"/>
              </a:rPr>
              <a:t>Review </a:t>
            </a:r>
            <a:r>
              <a:rPr lang="en-US" b="0" i="0" u="none" strike="noStrike" dirty="0">
                <a:solidFill>
                  <a:srgbClr val="161616"/>
                </a:solidFill>
                <a:effectLst/>
                <a:latin typeface="Segoe UI" panose="020B0502040204020203" pitchFamily="34" charset="0"/>
                <a:hlinkClick r:id="rId6"/>
              </a:rPr>
              <a:t>configuration options</a:t>
            </a:r>
            <a:r>
              <a:rPr lang="en-US" b="0" i="0" dirty="0">
                <a:solidFill>
                  <a:srgbClr val="161616"/>
                </a:solidFill>
                <a:effectLst/>
                <a:latin typeface="Segoe UI" panose="020B0502040204020203" pitchFamily="34" charset="0"/>
              </a:rPr>
              <a:t>.</a:t>
            </a:r>
          </a:p>
          <a:p>
            <a:pPr algn="l">
              <a:buFont typeface="Arial" panose="020B0604020202020204" pitchFamily="34" charset="0"/>
              <a:buChar char="•"/>
            </a:pPr>
            <a:endParaRPr lang="en-US" dirty="0">
              <a:solidFill>
                <a:srgbClr val="161616"/>
              </a:solidFill>
              <a:latin typeface="Segoe UI" panose="020B0502040204020203" pitchFamily="34" charset="0"/>
            </a:endParaRPr>
          </a:p>
          <a:p>
            <a:pPr algn="l"/>
            <a:endParaRPr lang="en-US" b="0" i="0" dirty="0">
              <a:solidFill>
                <a:srgbClr val="161616"/>
              </a:solidFill>
              <a:effectLst/>
              <a:latin typeface="Segoe UI" panose="020B0502040204020203" pitchFamily="34" charset="0"/>
            </a:endParaRPr>
          </a:p>
          <a:p>
            <a:endParaRPr lang="en-US" dirty="0"/>
          </a:p>
        </p:txBody>
      </p:sp>
    </p:spTree>
    <p:extLst>
      <p:ext uri="{BB962C8B-B14F-4D97-AF65-F5344CB8AC3E}">
        <p14:creationId xmlns:p14="http://schemas.microsoft.com/office/powerpoint/2010/main" val="2295108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1B5FF76D-6871-0ED9-FC1B-35304468D978}"/>
              </a:ext>
            </a:extLst>
          </p:cNvPr>
          <p:cNvSpPr>
            <a:spLocks noChangeArrowheads="1"/>
          </p:cNvSpPr>
          <p:nvPr/>
        </p:nvSpPr>
        <p:spPr bwMode="auto">
          <a:xfrm rot="10800000" flipV="1">
            <a:off x="250077" y="0"/>
            <a:ext cx="8155793" cy="195944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41224" tIns="101568" rIns="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Verify</a:t>
            </a: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a:t>
            </a:r>
            <a:r>
              <a:rPr kumimoji="0" lang="en-US" altLang="en-US" sz="1600" b="0" i="0" u="none" strike="noStrike" cap="none" normalizeH="0" baseline="0" dirty="0" err="1">
                <a:ln>
                  <a:noFill/>
                </a:ln>
                <a:solidFill>
                  <a:srgbClr val="161616"/>
                </a:solidFill>
                <a:effectLst/>
                <a:latin typeface="Segoe UI" panose="020B0502040204020203" pitchFamily="34" charset="0"/>
                <a:cs typeface="Segoe UI" panose="020B0502040204020203" pitchFamily="34" charset="0"/>
                <a:hlinkClick r:id="rId2"/>
              </a:rPr>
              <a:t>FSLogix</a:t>
            </a: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hlinkClick r:id="rId2"/>
              </a:rPr>
              <a:t> installation and version</a:t>
            </a: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Sign in</a:t>
            </a: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to the virtual machine as a local Administrator or an account with administrative privileges.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Select</a:t>
            </a: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Start and </a:t>
            </a:r>
            <a:r>
              <a:rPr kumimoji="0" lang="en-US" altLang="en-US" sz="1600" b="1"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Type</a:t>
            </a: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a:t>
            </a:r>
            <a:r>
              <a:rPr kumimoji="0" lang="en-US" altLang="en-US" sz="1600" b="0" i="0" u="none" strike="noStrike" cap="none" normalizeH="0" baseline="0" dirty="0">
                <a:ln>
                  <a:noFill/>
                </a:ln>
                <a:solidFill>
                  <a:srgbClr val="161616"/>
                </a:solidFill>
                <a:effectLst/>
                <a:latin typeface="SFMono-Regular"/>
                <a:cs typeface="Segoe UI" panose="020B0502040204020203" pitchFamily="34" charset="0"/>
              </a:rPr>
              <a:t>Registry Editor</a:t>
            </a: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directly into the Start Menu.</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1"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Select</a:t>
            </a: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Registry Editor from the Start Menu.</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55" name="Picture 7" descr="{alt-text}">
            <a:extLst>
              <a:ext uri="{FF2B5EF4-FFF2-40B4-BE49-F238E27FC236}">
                <a16:creationId xmlns:a16="http://schemas.microsoft.com/office/drawing/2014/main" id="{7DA2A3BC-7E19-FC78-D516-DBA2C27D1C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861" y="1696598"/>
            <a:ext cx="9199678" cy="5161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7260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D1246D-78D6-BD8D-6E35-970437D5A6B3}"/>
              </a:ext>
            </a:extLst>
          </p:cNvPr>
          <p:cNvSpPr txBox="1"/>
          <p:nvPr/>
        </p:nvSpPr>
        <p:spPr>
          <a:xfrm>
            <a:off x="768426" y="777733"/>
            <a:ext cx="7306938" cy="923330"/>
          </a:xfrm>
          <a:prstGeom prst="rect">
            <a:avLst/>
          </a:prstGeom>
          <a:noFill/>
        </p:spPr>
        <p:txBody>
          <a:bodyPr wrap="square">
            <a:spAutoFit/>
          </a:bodyPr>
          <a:lstStyle/>
          <a:p>
            <a:r>
              <a:rPr lang="en-US" dirty="0"/>
              <a:t>Go to: HKEY_LOCAL_MACHINE\SOFTWARE\</a:t>
            </a:r>
            <a:r>
              <a:rPr lang="en-US" dirty="0" err="1"/>
              <a:t>FSLogix</a:t>
            </a:r>
            <a:r>
              <a:rPr lang="en-US" dirty="0"/>
              <a:t>\Profiles.</a:t>
            </a:r>
          </a:p>
          <a:p>
            <a:endParaRPr lang="en-US" dirty="0"/>
          </a:p>
          <a:p>
            <a:endParaRPr lang="en-US" dirty="0"/>
          </a:p>
        </p:txBody>
      </p:sp>
      <p:graphicFrame>
        <p:nvGraphicFramePr>
          <p:cNvPr id="7" name="Table 6">
            <a:extLst>
              <a:ext uri="{FF2B5EF4-FFF2-40B4-BE49-F238E27FC236}">
                <a16:creationId xmlns:a16="http://schemas.microsoft.com/office/drawing/2014/main" id="{6AB3DF4A-DC98-70C2-B551-87890F5083C0}"/>
              </a:ext>
            </a:extLst>
          </p:cNvPr>
          <p:cNvGraphicFramePr>
            <a:graphicFrameLocks noGrp="1"/>
          </p:cNvGraphicFramePr>
          <p:nvPr>
            <p:extLst>
              <p:ext uri="{D42A27DB-BD31-4B8C-83A1-F6EECF244321}">
                <p14:modId xmlns:p14="http://schemas.microsoft.com/office/powerpoint/2010/main" val="1745438696"/>
              </p:ext>
            </p:extLst>
          </p:nvPr>
        </p:nvGraphicFramePr>
        <p:xfrm>
          <a:off x="768426" y="1813688"/>
          <a:ext cx="7872654" cy="4668689"/>
        </p:xfrm>
        <a:graphic>
          <a:graphicData uri="http://schemas.openxmlformats.org/drawingml/2006/table">
            <a:tbl>
              <a:tblPr/>
              <a:tblGrid>
                <a:gridCol w="2143191">
                  <a:extLst>
                    <a:ext uri="{9D8B030D-6E8A-4147-A177-3AD203B41FA5}">
                      <a16:colId xmlns:a16="http://schemas.microsoft.com/office/drawing/2014/main" val="89057103"/>
                    </a:ext>
                  </a:extLst>
                </a:gridCol>
                <a:gridCol w="1443081">
                  <a:extLst>
                    <a:ext uri="{9D8B030D-6E8A-4147-A177-3AD203B41FA5}">
                      <a16:colId xmlns:a16="http://schemas.microsoft.com/office/drawing/2014/main" val="2427140226"/>
                    </a:ext>
                  </a:extLst>
                </a:gridCol>
                <a:gridCol w="2143191">
                  <a:extLst>
                    <a:ext uri="{9D8B030D-6E8A-4147-A177-3AD203B41FA5}">
                      <a16:colId xmlns:a16="http://schemas.microsoft.com/office/drawing/2014/main" val="2595953885"/>
                    </a:ext>
                  </a:extLst>
                </a:gridCol>
                <a:gridCol w="2143191">
                  <a:extLst>
                    <a:ext uri="{9D8B030D-6E8A-4147-A177-3AD203B41FA5}">
                      <a16:colId xmlns:a16="http://schemas.microsoft.com/office/drawing/2014/main" val="655641360"/>
                    </a:ext>
                  </a:extLst>
                </a:gridCol>
              </a:tblGrid>
              <a:tr h="197584">
                <a:tc>
                  <a:txBody>
                    <a:bodyPr/>
                    <a:lstStyle/>
                    <a:p>
                      <a:pPr algn="l" fontAlgn="t"/>
                      <a:r>
                        <a:rPr lang="en-US" sz="1600" b="1" dirty="0">
                          <a:effectLst/>
                        </a:rPr>
                        <a:t>Key Name</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b="1">
                          <a:effectLst/>
                        </a:rPr>
                        <a:t>Data Type</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b="1">
                          <a:effectLst/>
                        </a:rPr>
                        <a:t>Value</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b="1" dirty="0">
                          <a:effectLst/>
                        </a:rPr>
                        <a:t>Description</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9017269"/>
                  </a:ext>
                </a:extLst>
              </a:tr>
              <a:tr h="197584">
                <a:tc>
                  <a:txBody>
                    <a:bodyPr/>
                    <a:lstStyle/>
                    <a:p>
                      <a:pPr algn="l" fontAlgn="t"/>
                      <a:r>
                        <a:rPr lang="en-US" sz="1600" b="1">
                          <a:effectLst/>
                        </a:rPr>
                        <a:t>Enabled</a:t>
                      </a:r>
                      <a:endParaRPr lang="en-US" sz="1600">
                        <a:effectLst/>
                      </a:endParaRP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b="1">
                          <a:effectLst/>
                        </a:rPr>
                        <a:t>DWORD</a:t>
                      </a:r>
                      <a:endParaRPr lang="en-US" sz="1600">
                        <a:effectLst/>
                      </a:endParaRP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b="1">
                          <a:effectLst/>
                        </a:rPr>
                        <a:t>1</a:t>
                      </a:r>
                      <a:endParaRPr lang="en-US" sz="1600">
                        <a:effectLst/>
                      </a:endParaRP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b="1">
                          <a:effectLst/>
                        </a:rPr>
                        <a:t>REQUIRED</a:t>
                      </a:r>
                      <a:endParaRPr lang="en-US" sz="1600">
                        <a:effectLst/>
                      </a:endParaRP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202540"/>
                  </a:ext>
                </a:extLst>
              </a:tr>
              <a:tr h="536300">
                <a:tc>
                  <a:txBody>
                    <a:bodyPr/>
                    <a:lstStyle/>
                    <a:p>
                      <a:pPr algn="l" fontAlgn="t"/>
                      <a:r>
                        <a:rPr lang="en-US" sz="1600">
                          <a:effectLst/>
                        </a:rPr>
                        <a:t>DeleteLocalProfileWhenVHDShouldApply</a:t>
                      </a:r>
                      <a:r>
                        <a:rPr lang="en-US" sz="1600" baseline="30000">
                          <a:effectLst/>
                        </a:rPr>
                        <a:t>1</a:t>
                      </a:r>
                      <a:endParaRPr lang="en-US" sz="1600">
                        <a:effectLst/>
                      </a:endParaRP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DWORD</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1</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Recommended</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5521623"/>
                  </a:ext>
                </a:extLst>
              </a:tr>
              <a:tr h="366942">
                <a:tc>
                  <a:txBody>
                    <a:bodyPr/>
                    <a:lstStyle/>
                    <a:p>
                      <a:pPr algn="l" fontAlgn="t"/>
                      <a:r>
                        <a:rPr lang="en-US" sz="1600">
                          <a:effectLst/>
                        </a:rPr>
                        <a:t>FlipFlopProfileDirectoryName</a:t>
                      </a:r>
                      <a:r>
                        <a:rPr lang="en-US" sz="1600" baseline="30000">
                          <a:effectLst/>
                        </a:rPr>
                        <a:t>2</a:t>
                      </a:r>
                      <a:endParaRPr lang="en-US" sz="1600">
                        <a:effectLst/>
                      </a:endParaRP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DWORD</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1</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Recommended</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7316988"/>
                  </a:ext>
                </a:extLst>
              </a:tr>
              <a:tr h="282264">
                <a:tc>
                  <a:txBody>
                    <a:bodyPr/>
                    <a:lstStyle/>
                    <a:p>
                      <a:pPr algn="l" fontAlgn="t"/>
                      <a:r>
                        <a:rPr lang="en-US" sz="1600">
                          <a:effectLst/>
                        </a:rPr>
                        <a:t>LockedRetryCount</a:t>
                      </a:r>
                      <a:r>
                        <a:rPr lang="en-US" sz="1600" baseline="30000">
                          <a:effectLst/>
                        </a:rPr>
                        <a:t>3</a:t>
                      </a:r>
                      <a:endParaRPr lang="en-US" sz="1600">
                        <a:effectLst/>
                      </a:endParaRP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DWORD</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3</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Recommended</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0103379"/>
                  </a:ext>
                </a:extLst>
              </a:tr>
              <a:tr h="282264">
                <a:tc>
                  <a:txBody>
                    <a:bodyPr/>
                    <a:lstStyle/>
                    <a:p>
                      <a:pPr algn="l" fontAlgn="t"/>
                      <a:r>
                        <a:rPr lang="en-US" sz="1600">
                          <a:effectLst/>
                        </a:rPr>
                        <a:t>LockedRetryInterval</a:t>
                      </a:r>
                      <a:r>
                        <a:rPr lang="en-US" sz="1600" baseline="30000">
                          <a:effectLst/>
                        </a:rPr>
                        <a:t>3</a:t>
                      </a:r>
                      <a:endParaRPr lang="en-US" sz="1600">
                        <a:effectLst/>
                      </a:endParaRP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DWORD</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dirty="0">
                          <a:effectLst/>
                        </a:rPr>
                        <a:t>15</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Recommended</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0355481"/>
                  </a:ext>
                </a:extLst>
              </a:tr>
              <a:tr h="197584">
                <a:tc>
                  <a:txBody>
                    <a:bodyPr/>
                    <a:lstStyle/>
                    <a:p>
                      <a:pPr algn="l" fontAlgn="t"/>
                      <a:r>
                        <a:rPr lang="en-US" sz="1600">
                          <a:effectLst/>
                        </a:rPr>
                        <a:t>ProfileType</a:t>
                      </a:r>
                      <a:r>
                        <a:rPr lang="en-US" sz="1600" baseline="30000">
                          <a:effectLst/>
                        </a:rPr>
                        <a:t>4</a:t>
                      </a:r>
                      <a:endParaRPr lang="en-US" sz="1600">
                        <a:effectLst/>
                      </a:endParaRP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DWORD</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0</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Default</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4944313"/>
                  </a:ext>
                </a:extLst>
              </a:tr>
              <a:tr h="366942">
                <a:tc>
                  <a:txBody>
                    <a:bodyPr/>
                    <a:lstStyle/>
                    <a:p>
                      <a:pPr algn="l" fontAlgn="t"/>
                      <a:r>
                        <a:rPr lang="en-US" sz="1600">
                          <a:effectLst/>
                        </a:rPr>
                        <a:t>ReAttachIntervalSeconds</a:t>
                      </a:r>
                      <a:r>
                        <a:rPr lang="en-US" sz="1600" baseline="30000">
                          <a:effectLst/>
                        </a:rPr>
                        <a:t>3</a:t>
                      </a:r>
                      <a:endParaRPr lang="en-US" sz="1600">
                        <a:effectLst/>
                      </a:endParaRP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DWORD</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15</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Recommended</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4528102"/>
                  </a:ext>
                </a:extLst>
              </a:tr>
              <a:tr h="282264">
                <a:tc>
                  <a:txBody>
                    <a:bodyPr/>
                    <a:lstStyle/>
                    <a:p>
                      <a:pPr algn="l" fontAlgn="t"/>
                      <a:r>
                        <a:rPr lang="en-US" sz="1600">
                          <a:effectLst/>
                        </a:rPr>
                        <a:t>ReAttachRetryCount</a:t>
                      </a:r>
                      <a:r>
                        <a:rPr lang="en-US" sz="1600" baseline="30000">
                          <a:effectLst/>
                        </a:rPr>
                        <a:t>3</a:t>
                      </a:r>
                      <a:endParaRPr lang="en-US" sz="1600">
                        <a:effectLst/>
                      </a:endParaRP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DWORD</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3</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Recommended</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2065604"/>
                  </a:ext>
                </a:extLst>
              </a:tr>
              <a:tr h="197584">
                <a:tc>
                  <a:txBody>
                    <a:bodyPr/>
                    <a:lstStyle/>
                    <a:p>
                      <a:pPr algn="l" fontAlgn="t"/>
                      <a:r>
                        <a:rPr lang="en-US" sz="1600">
                          <a:effectLst/>
                        </a:rPr>
                        <a:t>SizeInMBs</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DWORD</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30000</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Default</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2428320"/>
                  </a:ext>
                </a:extLst>
              </a:tr>
              <a:tr h="875017">
                <a:tc>
                  <a:txBody>
                    <a:bodyPr/>
                    <a:lstStyle/>
                    <a:p>
                      <a:pPr algn="l" fontAlgn="t"/>
                      <a:r>
                        <a:rPr lang="en-US" sz="1600" b="1">
                          <a:effectLst/>
                        </a:rPr>
                        <a:t>VHDLocations</a:t>
                      </a:r>
                      <a:endParaRPr lang="en-US" sz="1600">
                        <a:effectLst/>
                      </a:endParaRP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b="1">
                          <a:effectLst/>
                        </a:rPr>
                        <a:t>MULTI_SZ or REG_SZ</a:t>
                      </a:r>
                      <a:endParaRPr lang="en-US" sz="1600">
                        <a:effectLst/>
                      </a:endParaRP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dirty="0">
                          <a:effectLst/>
                        </a:rPr>
                        <a:t>\\&lt;storage-account-name&gt;.file.core.windows.net\&lt;share-name&gt;</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b="1" dirty="0">
                          <a:effectLst/>
                        </a:rPr>
                        <a:t>Example</a:t>
                      </a:r>
                      <a:endParaRPr lang="en-US" sz="1600" dirty="0">
                        <a:effectLst/>
                      </a:endParaRP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7158466"/>
                  </a:ext>
                </a:extLst>
              </a:tr>
              <a:tr h="197584">
                <a:tc>
                  <a:txBody>
                    <a:bodyPr/>
                    <a:lstStyle/>
                    <a:p>
                      <a:pPr algn="l" fontAlgn="t"/>
                      <a:r>
                        <a:rPr lang="en-US" sz="1600">
                          <a:effectLst/>
                        </a:rPr>
                        <a:t>VolumeType</a:t>
                      </a:r>
                      <a:r>
                        <a:rPr lang="en-US" sz="1600" baseline="30000">
                          <a:effectLst/>
                        </a:rPr>
                        <a:t>5</a:t>
                      </a:r>
                      <a:endParaRPr lang="en-US" sz="1600">
                        <a:effectLst/>
                      </a:endParaRP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REG_SZ</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r>
                        <a:rPr lang="en-US" sz="1600">
                          <a:effectLst/>
                        </a:rPr>
                        <a:t>VHDX</a:t>
                      </a:r>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600" dirty="0"/>
                    </a:p>
                  </a:txBody>
                  <a:tcPr marL="30861" marR="30861" marT="15430" marB="1543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422139"/>
                  </a:ext>
                </a:extLst>
              </a:tr>
            </a:tbl>
          </a:graphicData>
        </a:graphic>
      </p:graphicFrame>
      <p:sp>
        <p:nvSpPr>
          <p:cNvPr id="8" name="Rectangle 3">
            <a:extLst>
              <a:ext uri="{FF2B5EF4-FFF2-40B4-BE49-F238E27FC236}">
                <a16:creationId xmlns:a16="http://schemas.microsoft.com/office/drawing/2014/main" id="{BEBC164B-E0B1-E97F-5ADB-AEF0403DB668}"/>
              </a:ext>
            </a:extLst>
          </p:cNvPr>
          <p:cNvSpPr>
            <a:spLocks noChangeArrowheads="1"/>
          </p:cNvSpPr>
          <p:nvPr/>
        </p:nvSpPr>
        <p:spPr bwMode="auto">
          <a:xfrm>
            <a:off x="768426" y="1203378"/>
            <a:ext cx="11290223"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161616"/>
                </a:solidFill>
                <a:effectLst/>
                <a:latin typeface="Segoe UI" panose="020B0502040204020203" pitchFamily="34" charset="0"/>
                <a:cs typeface="Segoe UI" panose="020B0502040204020203" pitchFamily="34" charset="0"/>
              </a:rPr>
              <a:t>Add</a:t>
            </a:r>
            <a:r>
              <a:rPr kumimoji="0" lang="en-US" altLang="en-US" sz="1200" b="0" i="0" u="none" strike="noStrike" cap="none" normalizeH="0" baseline="0">
                <a:ln>
                  <a:noFill/>
                </a:ln>
                <a:solidFill>
                  <a:srgbClr val="161616"/>
                </a:solidFill>
                <a:effectLst/>
                <a:latin typeface="Segoe UI" panose="020B0502040204020203" pitchFamily="34" charset="0"/>
                <a:cs typeface="Segoe UI" panose="020B0502040204020203" pitchFamily="34" charset="0"/>
              </a:rPr>
              <a:t> these settings:</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6075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f s logix registry settings">
            <a:extLst>
              <a:ext uri="{FF2B5EF4-FFF2-40B4-BE49-F238E27FC236}">
                <a16:creationId xmlns:a16="http://schemas.microsoft.com/office/drawing/2014/main" id="{7FCFC420-DFA7-A77F-DEF6-80EC807FFD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219" y="24788"/>
            <a:ext cx="9496425" cy="43243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437C214-DA1D-A48D-D089-6A80746D8CA9}"/>
              </a:ext>
            </a:extLst>
          </p:cNvPr>
          <p:cNvSpPr txBox="1"/>
          <p:nvPr/>
        </p:nvSpPr>
        <p:spPr>
          <a:xfrm>
            <a:off x="323219" y="4816203"/>
            <a:ext cx="6097836" cy="923330"/>
          </a:xfrm>
          <a:prstGeom prst="rect">
            <a:avLst/>
          </a:prstGeom>
          <a:noFill/>
        </p:spPr>
        <p:txBody>
          <a:bodyPr wrap="square">
            <a:spAutoFit/>
          </a:bodyPr>
          <a:lstStyle/>
          <a:p>
            <a:r>
              <a:rPr lang="en-US" b="1" dirty="0"/>
              <a:t>Check this article for CCD configuration : </a:t>
            </a:r>
            <a:r>
              <a:rPr lang="en-US" dirty="0"/>
              <a:t>https://learn.microsoft.com/en-us/fslogix/tutorial-cloud-cache-containers</a:t>
            </a:r>
          </a:p>
        </p:txBody>
      </p:sp>
    </p:spTree>
    <p:extLst>
      <p:ext uri="{BB962C8B-B14F-4D97-AF65-F5344CB8AC3E}">
        <p14:creationId xmlns:p14="http://schemas.microsoft.com/office/powerpoint/2010/main" val="4128641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CAC6FA-72AE-DA74-ADE7-33916123D0D1}"/>
              </a:ext>
            </a:extLst>
          </p:cNvPr>
          <p:cNvSpPr txBox="1"/>
          <p:nvPr/>
        </p:nvSpPr>
        <p:spPr>
          <a:xfrm>
            <a:off x="118431" y="437787"/>
            <a:ext cx="7791680" cy="2031325"/>
          </a:xfrm>
          <a:prstGeom prst="rect">
            <a:avLst/>
          </a:prstGeom>
          <a:noFill/>
        </p:spPr>
        <p:txBody>
          <a:bodyPr wrap="square">
            <a:spAutoFit/>
          </a:bodyPr>
          <a:lstStyle/>
          <a:p>
            <a:r>
              <a:rPr lang="en-US" b="1" dirty="0"/>
              <a:t>VHD Disk Compaction</a:t>
            </a:r>
          </a:p>
          <a:p>
            <a:endParaRPr lang="en-US" b="1" dirty="0"/>
          </a:p>
          <a:p>
            <a:r>
              <a:rPr lang="en-US" b="0" i="0" dirty="0">
                <a:solidFill>
                  <a:srgbClr val="161616"/>
                </a:solidFill>
                <a:effectLst/>
                <a:latin typeface="Segoe UI" panose="020B0502040204020203" pitchFamily="34" charset="0"/>
              </a:rPr>
              <a:t>VHD Disk Compaction is a process that runs every time a user signs out. The compaction process is designed to automatically decrease the amount of storage a user's container, depending on a predefined threshold. During the sign out phase, </a:t>
            </a:r>
            <a:r>
              <a:rPr lang="en-US" b="0" i="0" dirty="0" err="1">
                <a:solidFill>
                  <a:srgbClr val="161616"/>
                </a:solidFill>
                <a:effectLst/>
                <a:latin typeface="Segoe UI" panose="020B0502040204020203" pitchFamily="34" charset="0"/>
              </a:rPr>
              <a:t>FSLogix</a:t>
            </a:r>
            <a:r>
              <a:rPr lang="en-US" b="0" i="0" dirty="0">
                <a:solidFill>
                  <a:srgbClr val="161616"/>
                </a:solidFill>
                <a:effectLst/>
                <a:latin typeface="Segoe UI" panose="020B0502040204020203" pitchFamily="34" charset="0"/>
              </a:rPr>
              <a:t> evaluates the disk to determine if disk compaction should run.</a:t>
            </a:r>
            <a:endParaRPr lang="en-US" b="1" dirty="0"/>
          </a:p>
        </p:txBody>
      </p:sp>
    </p:spTree>
    <p:extLst>
      <p:ext uri="{BB962C8B-B14F-4D97-AF65-F5344CB8AC3E}">
        <p14:creationId xmlns:p14="http://schemas.microsoft.com/office/powerpoint/2010/main" val="1444757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2ECABE-50A6-F406-3DBA-B43F52057723}"/>
              </a:ext>
            </a:extLst>
          </p:cNvPr>
          <p:cNvSpPr txBox="1"/>
          <p:nvPr/>
        </p:nvSpPr>
        <p:spPr>
          <a:xfrm>
            <a:off x="275422" y="198304"/>
            <a:ext cx="8871332" cy="3139321"/>
          </a:xfrm>
          <a:prstGeom prst="rect">
            <a:avLst/>
          </a:prstGeom>
          <a:noFill/>
        </p:spPr>
        <p:txBody>
          <a:bodyPr wrap="square">
            <a:spAutoFit/>
          </a:bodyPr>
          <a:lstStyle/>
          <a:p>
            <a:pPr algn="l"/>
            <a:r>
              <a:rPr lang="en-US" b="1" i="0" dirty="0">
                <a:solidFill>
                  <a:srgbClr val="161616"/>
                </a:solidFill>
                <a:effectLst/>
                <a:latin typeface="Segoe UI" panose="020B0502040204020203" pitchFamily="34" charset="0"/>
              </a:rPr>
              <a:t>Determining when VHD Disk Compaction runs</a:t>
            </a:r>
          </a:p>
          <a:p>
            <a:pPr algn="l"/>
            <a:r>
              <a:rPr lang="en-US" b="0" i="0" dirty="0" err="1">
                <a:solidFill>
                  <a:srgbClr val="161616"/>
                </a:solidFill>
                <a:effectLst/>
                <a:latin typeface="Segoe UI" panose="020B0502040204020203" pitchFamily="34" charset="0"/>
              </a:rPr>
              <a:t>FSLogix</a:t>
            </a:r>
            <a:r>
              <a:rPr lang="en-US" b="0" i="0" dirty="0">
                <a:solidFill>
                  <a:srgbClr val="161616"/>
                </a:solidFill>
                <a:effectLst/>
                <a:latin typeface="Segoe UI" panose="020B0502040204020203" pitchFamily="34" charset="0"/>
              </a:rPr>
              <a:t> determines whether to run the compaction process each time a user signs out. If the following criteria are met, VHD Disk Compaction runs:</a:t>
            </a:r>
          </a:p>
          <a:p>
            <a:pPr algn="l">
              <a:buFont typeface="Arial" panose="020B0604020202020204" pitchFamily="34" charset="0"/>
              <a:buChar char="•"/>
            </a:pPr>
            <a:r>
              <a:rPr lang="en-US" b="0" i="0" dirty="0">
                <a:solidFill>
                  <a:srgbClr val="161616"/>
                </a:solidFill>
                <a:effectLst/>
                <a:latin typeface="Segoe UI" panose="020B0502040204020203" pitchFamily="34" charset="0"/>
              </a:rPr>
              <a:t>Size of the container must be greater than 1 GB (size on disk).</a:t>
            </a:r>
          </a:p>
          <a:p>
            <a:pPr algn="l">
              <a:buFont typeface="Arial" panose="020B0604020202020204" pitchFamily="34" charset="0"/>
              <a:buChar char="•"/>
            </a:pPr>
            <a:r>
              <a:rPr lang="en-US" b="0" i="0" dirty="0">
                <a:solidFill>
                  <a:srgbClr val="161616"/>
                </a:solidFill>
                <a:effectLst/>
                <a:latin typeface="Segoe UI" panose="020B0502040204020203" pitchFamily="34" charset="0"/>
              </a:rPr>
              <a:t>Difference</a:t>
            </a:r>
            <a:r>
              <a:rPr lang="en-US" b="0" i="0" baseline="30000" dirty="0">
                <a:solidFill>
                  <a:srgbClr val="161616"/>
                </a:solidFill>
                <a:effectLst/>
                <a:latin typeface="Segoe UI" panose="020B0502040204020203" pitchFamily="34" charset="0"/>
              </a:rPr>
              <a:t>(C)</a:t>
            </a:r>
            <a:r>
              <a:rPr lang="en-US" b="0" i="0" dirty="0">
                <a:solidFill>
                  <a:srgbClr val="161616"/>
                </a:solidFill>
                <a:effectLst/>
                <a:latin typeface="Segoe UI" panose="020B0502040204020203" pitchFamily="34" charset="0"/>
              </a:rPr>
              <a:t> between the consumed size on disk</a:t>
            </a:r>
            <a:r>
              <a:rPr lang="en-US" b="0" i="0" baseline="30000" dirty="0">
                <a:solidFill>
                  <a:srgbClr val="161616"/>
                </a:solidFill>
                <a:effectLst/>
                <a:latin typeface="Segoe UI" panose="020B0502040204020203" pitchFamily="34" charset="0"/>
              </a:rPr>
              <a:t>(A)</a:t>
            </a:r>
            <a:r>
              <a:rPr lang="en-US" b="0" i="0" dirty="0">
                <a:solidFill>
                  <a:srgbClr val="161616"/>
                </a:solidFill>
                <a:effectLst/>
                <a:latin typeface="Segoe UI" panose="020B0502040204020203" pitchFamily="34" charset="0"/>
              </a:rPr>
              <a:t> and the queried </a:t>
            </a:r>
            <a:r>
              <a:rPr lang="en-US" b="0" i="0" u="none" strike="noStrike" dirty="0">
                <a:solidFill>
                  <a:srgbClr val="161616"/>
                </a:solidFill>
                <a:effectLst/>
                <a:latin typeface="Segoe UI" panose="020B0502040204020203" pitchFamily="34" charset="0"/>
                <a:hlinkClick r:id="rId2"/>
              </a:rPr>
              <a:t>minimum size</a:t>
            </a:r>
            <a:r>
              <a:rPr lang="en-US" b="0" i="0" baseline="30000" dirty="0">
                <a:solidFill>
                  <a:srgbClr val="161616"/>
                </a:solidFill>
                <a:effectLst/>
                <a:latin typeface="Segoe UI" panose="020B0502040204020203" pitchFamily="34" charset="0"/>
              </a:rPr>
              <a:t>(B)</a:t>
            </a:r>
            <a:r>
              <a:rPr lang="en-US" b="0" i="0" dirty="0">
                <a:solidFill>
                  <a:srgbClr val="161616"/>
                </a:solidFill>
                <a:effectLst/>
                <a:latin typeface="Segoe UI" panose="020B0502040204020203" pitchFamily="34" charset="0"/>
              </a:rPr>
              <a:t>. The difference must be greater than or equal to 20% of the consumed size within the container</a:t>
            </a:r>
            <a:r>
              <a:rPr lang="en-US" b="0" i="0" baseline="30000" dirty="0">
                <a:solidFill>
                  <a:srgbClr val="161616"/>
                </a:solidFill>
                <a:effectLst/>
                <a:latin typeface="Segoe UI" panose="020B0502040204020203" pitchFamily="34" charset="0"/>
              </a:rPr>
              <a:t>(A)</a:t>
            </a:r>
            <a:r>
              <a:rPr lang="en-US" b="0" i="0" dirty="0">
                <a:solidFill>
                  <a:srgbClr val="161616"/>
                </a:solidFill>
                <a:effectLst/>
                <a:latin typeface="Segoe UI" panose="020B0502040204020203" pitchFamily="34" charset="0"/>
              </a:rPr>
              <a:t>.</a:t>
            </a:r>
          </a:p>
          <a:p>
            <a:pPr algn="l"/>
            <a:r>
              <a:rPr lang="en-US" b="0" i="0" dirty="0">
                <a:solidFill>
                  <a:srgbClr val="161616"/>
                </a:solidFill>
                <a:effectLst/>
                <a:latin typeface="Segoe UI" panose="020B0502040204020203" pitchFamily="34" charset="0"/>
              </a:rPr>
              <a:t>The difference is calculated as follows:</a:t>
            </a:r>
          </a:p>
          <a:p>
            <a:pPr algn="l">
              <a:buFont typeface="Arial" panose="020B0604020202020204" pitchFamily="34" charset="0"/>
              <a:buChar char="•"/>
            </a:pPr>
            <a:r>
              <a:rPr lang="en-US" b="1" i="0" dirty="0">
                <a:solidFill>
                  <a:srgbClr val="161616"/>
                </a:solidFill>
                <a:effectLst/>
                <a:latin typeface="Segoe UI" panose="020B0502040204020203" pitchFamily="34" charset="0"/>
              </a:rPr>
              <a:t>A - B = C</a:t>
            </a:r>
            <a:endParaRPr lang="en-US" b="0" i="0" dirty="0">
              <a:solidFill>
                <a:srgbClr val="161616"/>
              </a:solidFill>
              <a:effectLst/>
              <a:latin typeface="Segoe UI" panose="020B0502040204020203" pitchFamily="34" charset="0"/>
            </a:endParaRPr>
          </a:p>
          <a:p>
            <a:pPr marL="742950" lvl="1" indent="-285750" algn="l">
              <a:buFont typeface="Arial" panose="020B0604020202020204" pitchFamily="34" charset="0"/>
              <a:buChar char="•"/>
            </a:pPr>
            <a:r>
              <a:rPr lang="en-US" b="0" i="0" dirty="0">
                <a:solidFill>
                  <a:srgbClr val="161616"/>
                </a:solidFill>
                <a:effectLst/>
                <a:latin typeface="Segoe UI" panose="020B0502040204020203" pitchFamily="34" charset="0"/>
              </a:rPr>
              <a:t>If </a:t>
            </a:r>
            <a:r>
              <a:rPr lang="en-US" b="1" i="0" dirty="0">
                <a:solidFill>
                  <a:srgbClr val="161616"/>
                </a:solidFill>
                <a:effectLst/>
                <a:latin typeface="Segoe UI" panose="020B0502040204020203" pitchFamily="34" charset="0"/>
              </a:rPr>
              <a:t>C ≥ (A x 0.2)</a:t>
            </a:r>
            <a:r>
              <a:rPr lang="en-US" b="0" i="0" dirty="0">
                <a:solidFill>
                  <a:srgbClr val="161616"/>
                </a:solidFill>
                <a:effectLst/>
                <a:latin typeface="Segoe UI" panose="020B0502040204020203" pitchFamily="34" charset="0"/>
              </a:rPr>
              <a:t>, compaction runs.</a:t>
            </a:r>
          </a:p>
          <a:p>
            <a:pPr marL="742950" lvl="1" indent="-285750" algn="l">
              <a:buFont typeface="Arial" panose="020B0604020202020204" pitchFamily="34" charset="0"/>
              <a:buChar char="•"/>
            </a:pPr>
            <a:r>
              <a:rPr lang="en-US" b="0" i="0" dirty="0">
                <a:solidFill>
                  <a:srgbClr val="161616"/>
                </a:solidFill>
                <a:effectLst/>
                <a:latin typeface="Segoe UI" panose="020B0502040204020203" pitchFamily="34" charset="0"/>
              </a:rPr>
              <a:t>If </a:t>
            </a:r>
            <a:r>
              <a:rPr lang="en-US" b="1" i="0" dirty="0">
                <a:solidFill>
                  <a:srgbClr val="161616"/>
                </a:solidFill>
                <a:effectLst/>
                <a:latin typeface="Segoe UI" panose="020B0502040204020203" pitchFamily="34" charset="0"/>
              </a:rPr>
              <a:t>C &lt; (A x 0.2)</a:t>
            </a:r>
            <a:r>
              <a:rPr lang="en-US" b="0" i="0" dirty="0">
                <a:solidFill>
                  <a:srgbClr val="161616"/>
                </a:solidFill>
                <a:effectLst/>
                <a:latin typeface="Segoe UI" panose="020B0502040204020203" pitchFamily="34" charset="0"/>
              </a:rPr>
              <a:t>, compaction doesn't run</a:t>
            </a:r>
          </a:p>
        </p:txBody>
      </p:sp>
    </p:spTree>
    <p:extLst>
      <p:ext uri="{BB962C8B-B14F-4D97-AF65-F5344CB8AC3E}">
        <p14:creationId xmlns:p14="http://schemas.microsoft.com/office/powerpoint/2010/main" val="2162370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1C4984-B673-75E3-C49D-793155DA4272}"/>
              </a:ext>
            </a:extLst>
          </p:cNvPr>
          <p:cNvSpPr txBox="1"/>
          <p:nvPr/>
        </p:nvSpPr>
        <p:spPr>
          <a:xfrm>
            <a:off x="308472" y="275423"/>
            <a:ext cx="8838282" cy="3139321"/>
          </a:xfrm>
          <a:prstGeom prst="rect">
            <a:avLst/>
          </a:prstGeom>
          <a:noFill/>
        </p:spPr>
        <p:txBody>
          <a:bodyPr wrap="square">
            <a:spAutoFit/>
          </a:bodyPr>
          <a:lstStyle/>
          <a:p>
            <a:pPr algn="l"/>
            <a:r>
              <a:rPr lang="en-US" b="0" i="0" dirty="0">
                <a:solidFill>
                  <a:srgbClr val="161616"/>
                </a:solidFill>
                <a:effectLst/>
                <a:latin typeface="Segoe UI" panose="020B0502040204020203" pitchFamily="34" charset="0"/>
              </a:rPr>
              <a:t>Here are a couple of examples:</a:t>
            </a:r>
          </a:p>
          <a:p>
            <a:pPr algn="l">
              <a:buFont typeface="Arial" panose="020B0604020202020204" pitchFamily="34" charset="0"/>
              <a:buChar char="•"/>
            </a:pPr>
            <a:r>
              <a:rPr lang="en-US" b="1" i="0" dirty="0">
                <a:solidFill>
                  <a:srgbClr val="161616"/>
                </a:solidFill>
                <a:effectLst/>
                <a:latin typeface="Segoe UI" panose="020B0502040204020203" pitchFamily="34" charset="0"/>
              </a:rPr>
              <a:t>Example 1</a:t>
            </a:r>
            <a:r>
              <a:rPr lang="en-US" b="0" i="0" dirty="0">
                <a:solidFill>
                  <a:srgbClr val="161616"/>
                </a:solidFill>
                <a:effectLst/>
                <a:latin typeface="Segoe UI" panose="020B0502040204020203" pitchFamily="34" charset="0"/>
              </a:rPr>
              <a:t>: The consumed size of a container is </a:t>
            </a:r>
            <a:r>
              <a:rPr lang="en-US" b="1" i="0" dirty="0">
                <a:solidFill>
                  <a:srgbClr val="161616"/>
                </a:solidFill>
                <a:effectLst/>
                <a:latin typeface="Segoe UI" panose="020B0502040204020203" pitchFamily="34" charset="0"/>
              </a:rPr>
              <a:t>6GB</a:t>
            </a:r>
            <a:r>
              <a:rPr lang="en-US" b="0" i="0" dirty="0">
                <a:solidFill>
                  <a:srgbClr val="161616"/>
                </a:solidFill>
                <a:effectLst/>
                <a:latin typeface="Segoe UI" panose="020B0502040204020203" pitchFamily="34" charset="0"/>
              </a:rPr>
              <a:t>. When we call </a:t>
            </a:r>
            <a:r>
              <a:rPr lang="en-US" b="0" i="0" u="none" strike="noStrike" dirty="0" err="1">
                <a:solidFill>
                  <a:srgbClr val="161616"/>
                </a:solidFill>
                <a:effectLst/>
                <a:latin typeface="Segoe UI" panose="020B0502040204020203" pitchFamily="34" charset="0"/>
                <a:hlinkClick r:id="rId2"/>
              </a:rPr>
              <a:t>GetSupportedSize</a:t>
            </a:r>
            <a:r>
              <a:rPr lang="en-US" b="0" i="0" dirty="0">
                <a:solidFill>
                  <a:srgbClr val="161616"/>
                </a:solidFill>
                <a:effectLst/>
                <a:latin typeface="Segoe UI" panose="020B0502040204020203" pitchFamily="34" charset="0"/>
              </a:rPr>
              <a:t>, the resulting minimum size is </a:t>
            </a:r>
            <a:r>
              <a:rPr lang="en-US" b="1" i="0" dirty="0">
                <a:solidFill>
                  <a:srgbClr val="161616"/>
                </a:solidFill>
                <a:effectLst/>
                <a:latin typeface="Segoe UI" panose="020B0502040204020203" pitchFamily="34" charset="0"/>
              </a:rPr>
              <a:t>2.5GB</a:t>
            </a:r>
            <a:r>
              <a:rPr lang="en-US" b="0" i="0" dirty="0">
                <a:solidFill>
                  <a:srgbClr val="161616"/>
                </a:solidFill>
                <a:effectLst/>
                <a:latin typeface="Segoe UI" panose="020B0502040204020203" pitchFamily="34" charset="0"/>
              </a:rPr>
              <a:t>:</a:t>
            </a:r>
          </a:p>
          <a:p>
            <a:pPr marL="742950" lvl="1" indent="-285750" algn="l">
              <a:buFont typeface="Arial" panose="020B0604020202020204" pitchFamily="34" charset="0"/>
              <a:buChar char="•"/>
            </a:pPr>
            <a:r>
              <a:rPr lang="en-US" b="0" i="0" dirty="0">
                <a:solidFill>
                  <a:srgbClr val="161616"/>
                </a:solidFill>
                <a:effectLst/>
                <a:latin typeface="Segoe UI" panose="020B0502040204020203" pitchFamily="34" charset="0"/>
              </a:rPr>
              <a:t>6 - 2.5 = 3.5 GB</a:t>
            </a:r>
          </a:p>
          <a:p>
            <a:pPr marL="742950" lvl="1" indent="-285750" algn="l">
              <a:buFont typeface="Arial" panose="020B0604020202020204" pitchFamily="34" charset="0"/>
              <a:buChar char="•"/>
            </a:pPr>
            <a:r>
              <a:rPr lang="en-US" b="0" i="0" dirty="0">
                <a:solidFill>
                  <a:srgbClr val="161616"/>
                </a:solidFill>
                <a:effectLst/>
                <a:latin typeface="Segoe UI" panose="020B0502040204020203" pitchFamily="34" charset="0"/>
              </a:rPr>
              <a:t>20% of 6 GB = 1.2 GB</a:t>
            </a:r>
          </a:p>
          <a:p>
            <a:pPr marL="742950" lvl="1" indent="-285750" algn="l">
              <a:buFont typeface="Arial" panose="020B0604020202020204" pitchFamily="34" charset="0"/>
              <a:buChar char="•"/>
            </a:pPr>
            <a:r>
              <a:rPr lang="en-US" b="0" i="0" dirty="0">
                <a:solidFill>
                  <a:srgbClr val="161616"/>
                </a:solidFill>
                <a:effectLst/>
                <a:latin typeface="Segoe UI" panose="020B0502040204020203" pitchFamily="34" charset="0"/>
              </a:rPr>
              <a:t>3.5 GB is greater than 1.2 GB, compaction runs.</a:t>
            </a:r>
          </a:p>
          <a:p>
            <a:pPr algn="l">
              <a:buFont typeface="Arial" panose="020B0604020202020204" pitchFamily="34" charset="0"/>
              <a:buChar char="•"/>
            </a:pPr>
            <a:r>
              <a:rPr lang="en-US" b="1" i="0" dirty="0">
                <a:solidFill>
                  <a:srgbClr val="161616"/>
                </a:solidFill>
                <a:effectLst/>
                <a:latin typeface="Segoe UI" panose="020B0502040204020203" pitchFamily="34" charset="0"/>
              </a:rPr>
              <a:t>Example 2</a:t>
            </a:r>
            <a:r>
              <a:rPr lang="en-US" b="0" i="0" dirty="0">
                <a:solidFill>
                  <a:srgbClr val="161616"/>
                </a:solidFill>
                <a:effectLst/>
                <a:latin typeface="Segoe UI" panose="020B0502040204020203" pitchFamily="34" charset="0"/>
              </a:rPr>
              <a:t>: The consumed size of a container is </a:t>
            </a:r>
            <a:r>
              <a:rPr lang="en-US" b="1" i="0" dirty="0">
                <a:solidFill>
                  <a:srgbClr val="161616"/>
                </a:solidFill>
                <a:effectLst/>
                <a:latin typeface="Segoe UI" panose="020B0502040204020203" pitchFamily="34" charset="0"/>
              </a:rPr>
              <a:t>12GB</a:t>
            </a:r>
            <a:r>
              <a:rPr lang="en-US" b="0" i="0" dirty="0">
                <a:solidFill>
                  <a:srgbClr val="161616"/>
                </a:solidFill>
                <a:effectLst/>
                <a:latin typeface="Segoe UI" panose="020B0502040204020203" pitchFamily="34" charset="0"/>
              </a:rPr>
              <a:t>. When we call </a:t>
            </a:r>
            <a:r>
              <a:rPr lang="en-US" b="0" i="0" u="none" strike="noStrike" dirty="0" err="1">
                <a:solidFill>
                  <a:srgbClr val="161616"/>
                </a:solidFill>
                <a:effectLst/>
                <a:latin typeface="Segoe UI" panose="020B0502040204020203" pitchFamily="34" charset="0"/>
                <a:hlinkClick r:id="rId2"/>
              </a:rPr>
              <a:t>GetSupportedSize</a:t>
            </a:r>
            <a:r>
              <a:rPr lang="en-US" b="0" i="0" dirty="0">
                <a:solidFill>
                  <a:srgbClr val="161616"/>
                </a:solidFill>
                <a:effectLst/>
                <a:latin typeface="Segoe UI" panose="020B0502040204020203" pitchFamily="34" charset="0"/>
              </a:rPr>
              <a:t>, the resulting minimum size is </a:t>
            </a:r>
            <a:r>
              <a:rPr lang="en-US" b="1" i="0" dirty="0">
                <a:solidFill>
                  <a:srgbClr val="161616"/>
                </a:solidFill>
                <a:effectLst/>
                <a:latin typeface="Segoe UI" panose="020B0502040204020203" pitchFamily="34" charset="0"/>
              </a:rPr>
              <a:t>10GB</a:t>
            </a:r>
            <a:r>
              <a:rPr lang="en-US" b="0" i="0" dirty="0">
                <a:solidFill>
                  <a:srgbClr val="161616"/>
                </a:solidFill>
                <a:effectLst/>
                <a:latin typeface="Segoe UI" panose="020B0502040204020203" pitchFamily="34" charset="0"/>
              </a:rPr>
              <a:t>:</a:t>
            </a:r>
          </a:p>
          <a:p>
            <a:pPr marL="742950" lvl="1" indent="-285750" algn="l">
              <a:buFont typeface="Arial" panose="020B0604020202020204" pitchFamily="34" charset="0"/>
              <a:buChar char="•"/>
            </a:pPr>
            <a:r>
              <a:rPr lang="en-US" b="0" i="0" dirty="0">
                <a:solidFill>
                  <a:srgbClr val="161616"/>
                </a:solidFill>
                <a:effectLst/>
                <a:latin typeface="Segoe UI" panose="020B0502040204020203" pitchFamily="34" charset="0"/>
              </a:rPr>
              <a:t>12 - 10 = 2 GB</a:t>
            </a:r>
          </a:p>
          <a:p>
            <a:pPr marL="742950" lvl="1" indent="-285750" algn="l">
              <a:buFont typeface="Arial" panose="020B0604020202020204" pitchFamily="34" charset="0"/>
              <a:buChar char="•"/>
            </a:pPr>
            <a:r>
              <a:rPr lang="en-US" b="0" i="0" dirty="0">
                <a:solidFill>
                  <a:srgbClr val="161616"/>
                </a:solidFill>
                <a:effectLst/>
                <a:latin typeface="Segoe UI" panose="020B0502040204020203" pitchFamily="34" charset="0"/>
              </a:rPr>
              <a:t>20% of 12 GB = 2.4 GB</a:t>
            </a:r>
          </a:p>
          <a:p>
            <a:pPr marL="742950" lvl="1" indent="-285750" algn="l">
              <a:buFont typeface="Arial" panose="020B0604020202020204" pitchFamily="34" charset="0"/>
              <a:buChar char="•"/>
            </a:pPr>
            <a:r>
              <a:rPr lang="en-US" b="0" i="0" dirty="0">
                <a:solidFill>
                  <a:srgbClr val="161616"/>
                </a:solidFill>
                <a:effectLst/>
                <a:latin typeface="Segoe UI" panose="020B0502040204020203" pitchFamily="34" charset="0"/>
              </a:rPr>
              <a:t>2 GB is less than 2.4 GB, compaction doesn't run</a:t>
            </a:r>
          </a:p>
        </p:txBody>
      </p:sp>
    </p:spTree>
    <p:extLst>
      <p:ext uri="{BB962C8B-B14F-4D97-AF65-F5344CB8AC3E}">
        <p14:creationId xmlns:p14="http://schemas.microsoft.com/office/powerpoint/2010/main" val="12138071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1443</TotalTime>
  <Words>1775</Words>
  <Application>Microsoft Office PowerPoint</Application>
  <PresentationFormat>Widescreen</PresentationFormat>
  <Paragraphs>153</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Aptos Display</vt:lpstr>
      <vt:lpstr>Arial</vt:lpstr>
      <vt:lpstr>Segoe UI</vt:lpstr>
      <vt:lpstr>Segoe UI VSS (Regular)</vt:lpstr>
      <vt:lpstr>SFMono-Regular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Zuber Khan</dc:creator>
  <cp:lastModifiedBy>Zuber Khan</cp:lastModifiedBy>
  <cp:revision>10</cp:revision>
  <dcterms:created xsi:type="dcterms:W3CDTF">2024-08-20T16:24:08Z</dcterms:created>
  <dcterms:modified xsi:type="dcterms:W3CDTF">2024-08-23T15:29:58Z</dcterms:modified>
</cp:coreProperties>
</file>